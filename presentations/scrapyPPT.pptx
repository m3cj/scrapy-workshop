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6" r:id="rId1"/>
  </p:sldMasterIdLst>
  <p:notesMasterIdLst>
    <p:notesMasterId r:id="rId28"/>
  </p:notesMasterIdLst>
  <p:sldIdLst>
    <p:sldId id="256" r:id="rId2"/>
    <p:sldId id="417" r:id="rId3"/>
    <p:sldId id="425" r:id="rId4"/>
    <p:sldId id="397" r:id="rId5"/>
    <p:sldId id="393" r:id="rId6"/>
    <p:sldId id="413" r:id="rId7"/>
    <p:sldId id="410" r:id="rId8"/>
    <p:sldId id="396" r:id="rId9"/>
    <p:sldId id="398" r:id="rId10"/>
    <p:sldId id="399" r:id="rId11"/>
    <p:sldId id="400" r:id="rId12"/>
    <p:sldId id="401" r:id="rId13"/>
    <p:sldId id="402" r:id="rId14"/>
    <p:sldId id="416" r:id="rId15"/>
    <p:sldId id="426" r:id="rId16"/>
    <p:sldId id="403" r:id="rId17"/>
    <p:sldId id="405" r:id="rId18"/>
    <p:sldId id="406" r:id="rId19"/>
    <p:sldId id="427" r:id="rId20"/>
    <p:sldId id="418" r:id="rId21"/>
    <p:sldId id="419" r:id="rId22"/>
    <p:sldId id="404" r:id="rId23"/>
    <p:sldId id="423" r:id="rId24"/>
    <p:sldId id="421" r:id="rId25"/>
    <p:sldId id="422" r:id="rId26"/>
    <p:sldId id="420" r:id="rId27"/>
  </p:sldIdLst>
  <p:sldSz cx="9144000" cy="5143500" type="screen16x9"/>
  <p:notesSz cx="6858000" cy="9144000"/>
  <p:embeddedFontLst>
    <p:embeddedFont>
      <p:font typeface="Consolas" panose="020B0609020204030204" pitchFamily="49" charset="0"/>
      <p:regular r:id="rId29"/>
      <p:bold r:id="rId30"/>
      <p:italic r:id="rId31"/>
      <p:boldItalic r:id="rId32"/>
    </p:embeddedFont>
    <p:embeddedFont>
      <p:font typeface="Hammersmith One" panose="02010703030501060504" pitchFamily="2" charset="0"/>
      <p:regular r:id="rId33"/>
    </p:embeddedFont>
    <p:embeddedFont>
      <p:font typeface="Manjari" panose="020B0604020202020204" charset="0"/>
      <p:regular r:id="rId34"/>
      <p:bold r:id="rId35"/>
    </p:embeddedFont>
    <p:embeddedFont>
      <p:font typeface="Roboto Condensed Light" panose="02000000000000000000" pitchFamily="2"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7AB9"/>
    <a:srgbClr val="FFD7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E783FC-0CFF-4279-9C76-74555EB9FDD2}">
  <a:tblStyle styleId="{2DE783FC-0CFF-4279-9C76-74555EB9FDD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56D94E0-E598-4BFB-B068-8CA6A7FF0DA8}"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4E7E7"/>
          </a:solidFill>
        </a:fill>
      </a:tcStyle>
    </a:wholeTbl>
    <a:band1H>
      <a:tcTxStyle/>
      <a:tcStyle>
        <a:tcBdr/>
        <a:fill>
          <a:solidFill>
            <a:srgbClr val="E8CCCB"/>
          </a:solidFill>
        </a:fill>
      </a:tcStyle>
    </a:band1H>
    <a:band2H>
      <a:tcTxStyle/>
      <a:tcStyle>
        <a:tcBdr/>
      </a:tcStyle>
    </a:band2H>
    <a:band1V>
      <a:tcTxStyle/>
      <a:tcStyle>
        <a:tcBdr/>
        <a:fill>
          <a:solidFill>
            <a:srgbClr val="E8CCCB"/>
          </a:solidFill>
        </a:fill>
      </a:tcStyle>
    </a:band1V>
    <a:band2V>
      <a:tcTxStyle/>
      <a:tcStyle>
        <a:tcBdr/>
      </a:tcStyle>
    </a:band2V>
    <a:lastCol>
      <a:tcTxStyle b="on" i="off">
        <a:font>
          <a:latin typeface="Calibri"/>
          <a:ea typeface="Calibri"/>
          <a:cs typeface="Calibri"/>
        </a:font>
        <a:srgbClr val="FFFFFF"/>
      </a:tcTxStyle>
      <a:tcStyle>
        <a:tcBdr/>
        <a:fill>
          <a:solidFill>
            <a:srgbClr val="FCBD24"/>
          </a:solidFill>
        </a:fill>
      </a:tcStyle>
    </a:lastCol>
    <a:firstCol>
      <a:tcTxStyle b="on" i="off">
        <a:font>
          <a:latin typeface="Calibri"/>
          <a:ea typeface="Calibri"/>
          <a:cs typeface="Calibri"/>
        </a:font>
        <a:srgbClr val="FFFFFF"/>
      </a:tcTxStyle>
      <a:tcStyle>
        <a:tcBdr/>
        <a:fill>
          <a:solidFill>
            <a:srgbClr val="FCBD24"/>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FCBD24"/>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FCBD24"/>
          </a:solidFill>
        </a:fill>
      </a:tcStyle>
    </a:firstRow>
    <a:neCell>
      <a:tcTxStyle/>
      <a:tcStyle>
        <a:tcBdr/>
      </a:tcStyle>
    </a:neCell>
    <a:nwCell>
      <a:tcTxStyle/>
      <a:tcStyle>
        <a:tcBdr/>
      </a:tcStyle>
    </a:nwCell>
  </a:tblStyle>
  <a:tblStyle styleId="{23D71F08-918A-40D4-84CC-1E49CB3E10C8}" styleName="Table_2">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7ECF3"/>
          </a:solidFill>
        </a:fill>
      </a:tcStyle>
    </a:wholeTbl>
    <a:band1H>
      <a:tcTxStyle/>
      <a:tcStyle>
        <a:tcBdr/>
        <a:fill>
          <a:solidFill>
            <a:srgbClr val="CBD7E6"/>
          </a:solidFill>
        </a:fill>
      </a:tcStyle>
    </a:band1H>
    <a:band2H>
      <a:tcTxStyle/>
      <a:tcStyle>
        <a:tcBdr/>
      </a:tcStyle>
    </a:band2H>
    <a:band1V>
      <a:tcTxStyle/>
      <a:tcStyle>
        <a:tcBdr/>
        <a:fill>
          <a:solidFill>
            <a:srgbClr val="CBD7E6"/>
          </a:solidFill>
        </a:fill>
      </a:tcStyle>
    </a:band1V>
    <a:band2V>
      <a:tcTxStyle/>
      <a:tcStyle>
        <a:tcBdr/>
      </a:tcStyle>
    </a:band2V>
    <a:lastCol>
      <a:tcTxStyle b="on" i="off">
        <a:font>
          <a:latin typeface="Calibri"/>
          <a:ea typeface="Calibri"/>
          <a:cs typeface="Calibri"/>
        </a:font>
        <a:srgbClr val="FFFFFF"/>
      </a:tcTxStyle>
      <a:tcStyle>
        <a:tcBdr/>
        <a:fill>
          <a:solidFill>
            <a:srgbClr val="5EB2FC"/>
          </a:solidFill>
        </a:fill>
      </a:tcStyle>
    </a:lastCol>
    <a:firstCol>
      <a:tcTxStyle b="on" i="off">
        <a:font>
          <a:latin typeface="Calibri"/>
          <a:ea typeface="Calibri"/>
          <a:cs typeface="Calibri"/>
        </a:font>
        <a:srgbClr val="FFFFFF"/>
      </a:tcTxStyle>
      <a:tcStyle>
        <a:tcBdr/>
        <a:fill>
          <a:solidFill>
            <a:srgbClr val="5EB2FC"/>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5EB2FC"/>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5EB2FC"/>
          </a:solidFill>
        </a:fill>
      </a:tcStyle>
    </a:firstRow>
    <a:neCell>
      <a:tcTxStyle/>
      <a:tcStyle>
        <a:tcBdr/>
      </a:tcStyle>
    </a:neCell>
    <a:nwCell>
      <a:tcTxStyle/>
      <a:tcStyle>
        <a:tcBdr/>
      </a:tcStyle>
    </a:nwCell>
  </a:tblStyle>
  <a:tblStyle styleId="{AF2215F3-9399-4D77-85DD-10F2E629B783}" styleName="Table_3">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7E8"/>
          </a:solidFill>
        </a:fill>
      </a:tcStyle>
    </a:wholeTbl>
    <a:band1H>
      <a:tcTxStyle/>
      <a:tcStyle>
        <a:tcBdr/>
        <a:fill>
          <a:solidFill>
            <a:srgbClr val="CECBCF"/>
          </a:solidFill>
        </a:fill>
      </a:tcStyle>
    </a:band1H>
    <a:band2H>
      <a:tcTxStyle/>
      <a:tcStyle>
        <a:tcBdr/>
      </a:tcStyle>
    </a:band2H>
    <a:band1V>
      <a:tcTxStyle/>
      <a:tcStyle>
        <a:tcBdr/>
        <a:fill>
          <a:solidFill>
            <a:srgbClr val="CECBCF"/>
          </a:solidFill>
        </a:fill>
      </a:tcStyle>
    </a:band1V>
    <a:band2V>
      <a:tcTxStyle/>
      <a:tcStyle>
        <a:tcBdr/>
      </a:tcStyle>
    </a:band2V>
    <a:lastCol>
      <a:tcTxStyle b="on" i="off">
        <a:font>
          <a:latin typeface="Calibri"/>
          <a:ea typeface="Calibri"/>
          <a:cs typeface="Calibri"/>
        </a:font>
        <a:srgbClr val="FFFFFF"/>
      </a:tcTxStyle>
      <a:tcStyle>
        <a:tcBdr/>
        <a:fill>
          <a:solidFill>
            <a:srgbClr val="EC3A3B"/>
          </a:solidFill>
        </a:fill>
      </a:tcStyle>
    </a:lastCol>
    <a:firstCol>
      <a:tcTxStyle b="on" i="off">
        <a:font>
          <a:latin typeface="Calibri"/>
          <a:ea typeface="Calibri"/>
          <a:cs typeface="Calibri"/>
        </a:font>
        <a:srgbClr val="FFFFFF"/>
      </a:tcTxStyle>
      <a:tcStyle>
        <a:tcBdr/>
        <a:fill>
          <a:solidFill>
            <a:srgbClr val="EC3A3B"/>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EC3A3B"/>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EC3A3B"/>
          </a:solidFill>
        </a:fill>
      </a:tcStyle>
    </a:firstRow>
    <a:neCell>
      <a:tcTxStyle/>
      <a:tcStyle>
        <a:tcBdr/>
      </a:tcStyle>
    </a:neCell>
    <a:nwCell>
      <a:tcTxStyle/>
      <a:tcStyle>
        <a:tcBdr/>
      </a:tcStyle>
    </a:nwCell>
  </a:tblStyle>
  <a:tblStyle styleId="{199C4937-0BC9-45BF-BDF4-383B92CBB745}" styleName="Table_4">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7F0ED"/>
          </a:solidFill>
        </a:fill>
      </a:tcStyle>
    </a:wholeTbl>
    <a:band1H>
      <a:tcTxStyle/>
      <a:tcStyle>
        <a:tcBdr/>
        <a:fill>
          <a:solidFill>
            <a:srgbClr val="CADFD8"/>
          </a:solidFill>
        </a:fill>
      </a:tcStyle>
    </a:band1H>
    <a:band2H>
      <a:tcTxStyle/>
      <a:tcStyle>
        <a:tcBdr/>
      </a:tcStyle>
    </a:band2H>
    <a:band1V>
      <a:tcTxStyle/>
      <a:tcStyle>
        <a:tcBdr/>
        <a:fill>
          <a:solidFill>
            <a:srgbClr val="CADFD8"/>
          </a:solidFill>
        </a:fill>
      </a:tcStyle>
    </a:band1V>
    <a:band2V>
      <a:tcTxStyle/>
      <a:tcStyle>
        <a:tcBdr/>
      </a:tcStyle>
    </a:band2V>
    <a:lastCol>
      <a:tcTxStyle b="on" i="off">
        <a:font>
          <a:latin typeface="Calibri"/>
          <a:ea typeface="Calibri"/>
          <a:cs typeface="Calibri"/>
        </a:font>
        <a:srgbClr val="FFFFFF"/>
      </a:tcTxStyle>
      <a:tcStyle>
        <a:tcBdr/>
        <a:fill>
          <a:solidFill>
            <a:srgbClr val="69E781"/>
          </a:solidFill>
        </a:fill>
      </a:tcStyle>
    </a:lastCol>
    <a:firstCol>
      <a:tcTxStyle b="on" i="off">
        <a:font>
          <a:latin typeface="Calibri"/>
          <a:ea typeface="Calibri"/>
          <a:cs typeface="Calibri"/>
        </a:font>
        <a:srgbClr val="FFFFFF"/>
      </a:tcTxStyle>
      <a:tcStyle>
        <a:tcBdr/>
        <a:fill>
          <a:solidFill>
            <a:srgbClr val="69E781"/>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69E78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69E781"/>
          </a:solidFill>
        </a:fill>
      </a:tcStyle>
    </a:firstRow>
    <a:neCell>
      <a:tcTxStyle/>
      <a:tcStyle>
        <a:tcBdr/>
      </a:tcStyle>
    </a:neCell>
    <a:nwCell>
      <a:tcTxStyle/>
      <a:tcStyle>
        <a:tcBdr/>
      </a:tcStyle>
    </a:nwCell>
  </a:tblStyle>
  <a:tblStyle styleId="{FDAA6299-D188-4A64-B655-D06B638EFD79}" styleName="Table_5">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DEFE6"/>
          </a:solidFill>
        </a:fill>
      </a:tcStyle>
    </a:wholeTbl>
    <a:band1H>
      <a:tcTxStyle/>
      <a:tcStyle>
        <a:tcBdr/>
        <a:fill>
          <a:solidFill>
            <a:srgbClr val="FADECA"/>
          </a:solidFill>
        </a:fill>
      </a:tcStyle>
    </a:band1H>
    <a:band2H>
      <a:tcTxStyle/>
      <a:tcStyle>
        <a:tcBdr/>
      </a:tcStyle>
    </a:band2H>
    <a:band1V>
      <a:tcTxStyle/>
      <a:tcStyle>
        <a:tcBdr/>
        <a:fill>
          <a:solidFill>
            <a:srgbClr val="FADECA"/>
          </a:solidFill>
        </a:fill>
      </a:tcStyle>
    </a:band1V>
    <a:band2V>
      <a:tcTxStyle/>
      <a:tcStyle>
        <a:tcBdr/>
      </a:tcStyle>
    </a:band2V>
    <a:lastCol>
      <a:tcTxStyle b="on" i="off">
        <a:font>
          <a:latin typeface="Calibri"/>
          <a:ea typeface="Calibri"/>
          <a:cs typeface="Calibri"/>
        </a:font>
        <a:srgbClr val="FFFFFF"/>
      </a:tcTxStyle>
      <a:tcStyle>
        <a:tcBdr/>
        <a:fill>
          <a:solidFill>
            <a:srgbClr val="4949E7"/>
          </a:solidFill>
        </a:fill>
      </a:tcStyle>
    </a:lastCol>
    <a:firstCol>
      <a:tcTxStyle b="on" i="off">
        <a:font>
          <a:latin typeface="Calibri"/>
          <a:ea typeface="Calibri"/>
          <a:cs typeface="Calibri"/>
        </a:font>
        <a:srgbClr val="FFFFFF"/>
      </a:tcTxStyle>
      <a:tcStyle>
        <a:tcBdr/>
        <a:fill>
          <a:solidFill>
            <a:srgbClr val="4949E7"/>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949E7"/>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949E7"/>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60"/>
  </p:normalViewPr>
  <p:slideViewPr>
    <p:cSldViewPr snapToGrid="0">
      <p:cViewPr varScale="1">
        <p:scale>
          <a:sx n="105" d="100"/>
          <a:sy n="105" d="100"/>
        </p:scale>
        <p:origin x="57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2"/>
        <p:cNvGrpSpPr/>
        <p:nvPr/>
      </p:nvGrpSpPr>
      <p:grpSpPr>
        <a:xfrm>
          <a:off x="0" y="0"/>
          <a:ext cx="0" cy="0"/>
          <a:chOff x="0" y="0"/>
          <a:chExt cx="0" cy="0"/>
        </a:xfrm>
      </p:grpSpPr>
      <p:sp>
        <p:nvSpPr>
          <p:cNvPr id="2003" name="Google Shape;200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4" name="Google Shape;200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70281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10800000" flipH="1">
            <a:off x="-1411582" y="-1157400"/>
            <a:ext cx="4436782" cy="3714342"/>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062825" y="3370500"/>
            <a:ext cx="775608" cy="1012954"/>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605425" y="342175"/>
            <a:ext cx="2052600" cy="2052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6412578" y="-640069"/>
            <a:ext cx="1962482" cy="1953284"/>
            <a:chOff x="386328" y="2672681"/>
            <a:chExt cx="1962482" cy="1953284"/>
          </a:xfrm>
        </p:grpSpPr>
        <p:sp>
          <p:nvSpPr>
            <p:cNvPr id="13" name="Google Shape;13;p2"/>
            <p:cNvSpPr/>
            <p:nvPr/>
          </p:nvSpPr>
          <p:spPr>
            <a:xfrm>
              <a:off x="602590" y="3031586"/>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86328" y="2672681"/>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95817" y="2846396"/>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906269" y="2679600"/>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314642" y="2672681"/>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724131" y="2785411"/>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874810" y="2808447"/>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51868" y="3289279"/>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16292" y="3153513"/>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04963" y="2940732"/>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13335" y="2940732"/>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522825" y="2940732"/>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931197" y="2975243"/>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89766" y="3559565"/>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97897" y="3303075"/>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906269" y="3303075"/>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314642" y="3303075"/>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724131" y="3301915"/>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132503" y="3301915"/>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95525" y="3644703"/>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04963" y="3644703"/>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113335" y="3644703"/>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522825" y="3644703"/>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1931197" y="3644703"/>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339569" y="3728681"/>
              <a:ext cx="6919" cy="10401"/>
            </a:xfrm>
            <a:custGeom>
              <a:avLst/>
              <a:gdLst/>
              <a:ahLst/>
              <a:cxnLst/>
              <a:rect l="l" t="t" r="r" b="b"/>
              <a:pathLst>
                <a:path w="161" h="242" extrusionOk="0">
                  <a:moveTo>
                    <a:pt x="81" y="1"/>
                  </a:moveTo>
                  <a:lnTo>
                    <a:pt x="0" y="161"/>
                  </a:lnTo>
                  <a:lnTo>
                    <a:pt x="134" y="241"/>
                  </a:lnTo>
                  <a:cubicBezTo>
                    <a:pt x="134" y="161"/>
                    <a:pt x="134" y="108"/>
                    <a:pt x="161" y="27"/>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97897" y="4010528"/>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906269" y="4010528"/>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314642" y="4010528"/>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724131" y="4010528"/>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132503" y="4095623"/>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90153" y="4437294"/>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55642" y="4352156"/>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113335" y="4352156"/>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1522825" y="4352156"/>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1931197" y="4437294"/>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2"/>
          <p:cNvSpPr/>
          <p:nvPr/>
        </p:nvSpPr>
        <p:spPr>
          <a:xfrm>
            <a:off x="-125" y="4599425"/>
            <a:ext cx="9144321" cy="595550"/>
          </a:xfrm>
          <a:custGeom>
            <a:avLst/>
            <a:gdLst/>
            <a:ahLst/>
            <a:cxnLst/>
            <a:rect l="l" t="t" r="r" b="b"/>
            <a:pathLst>
              <a:path w="287196" h="23822" extrusionOk="0">
                <a:moveTo>
                  <a:pt x="1" y="0"/>
                </a:moveTo>
                <a:lnTo>
                  <a:pt x="1" y="23822"/>
                </a:lnTo>
                <a:lnTo>
                  <a:pt x="287196" y="23822"/>
                </a:lnTo>
                <a:lnTo>
                  <a:pt x="287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txBox="1">
            <a:spLocks noGrp="1"/>
          </p:cNvSpPr>
          <p:nvPr>
            <p:ph type="ctrTitle"/>
          </p:nvPr>
        </p:nvSpPr>
        <p:spPr>
          <a:xfrm>
            <a:off x="1283094" y="1290750"/>
            <a:ext cx="65778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500" b="1">
                <a:solidFill>
                  <a:srgbClr val="80686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0" name="Google Shape;50;p2"/>
          <p:cNvSpPr txBox="1">
            <a:spLocks noGrp="1"/>
          </p:cNvSpPr>
          <p:nvPr>
            <p:ph type="subTitle" idx="1"/>
          </p:nvPr>
        </p:nvSpPr>
        <p:spPr>
          <a:xfrm>
            <a:off x="1283100" y="3394625"/>
            <a:ext cx="6577800" cy="458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500">
                <a:latin typeface="Manjari"/>
                <a:ea typeface="Manjari"/>
                <a:cs typeface="Manjari"/>
                <a:sym typeface="Manjari"/>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sp>
        <p:nvSpPr>
          <p:cNvPr id="52" name="Google Shape;52;p3"/>
          <p:cNvSpPr/>
          <p:nvPr/>
        </p:nvSpPr>
        <p:spPr>
          <a:xfrm>
            <a:off x="6710333" y="1328994"/>
            <a:ext cx="2375400" cy="2375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 name="Google Shape;53;p3"/>
          <p:cNvGrpSpPr/>
          <p:nvPr/>
        </p:nvGrpSpPr>
        <p:grpSpPr>
          <a:xfrm>
            <a:off x="6657443" y="455381"/>
            <a:ext cx="2270935" cy="2260334"/>
            <a:chOff x="6762468" y="1386456"/>
            <a:chExt cx="2270935" cy="2260334"/>
          </a:xfrm>
        </p:grpSpPr>
        <p:sp>
          <p:nvSpPr>
            <p:cNvPr id="54" name="Google Shape;54;p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3"/>
          <p:cNvSpPr/>
          <p:nvPr/>
        </p:nvSpPr>
        <p:spPr>
          <a:xfrm rot="8100000">
            <a:off x="402124" y="-935267"/>
            <a:ext cx="1938844" cy="3305623"/>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641525" y="2945026"/>
            <a:ext cx="1460036" cy="1906827"/>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txBox="1">
            <a:spLocks noGrp="1"/>
          </p:cNvSpPr>
          <p:nvPr>
            <p:ph type="title" hasCustomPrompt="1"/>
          </p:nvPr>
        </p:nvSpPr>
        <p:spPr>
          <a:xfrm>
            <a:off x="2019300" y="914400"/>
            <a:ext cx="5105400" cy="1213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75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0" name="Google Shape;90;p3">
            <a:hlinkClick r:id="" action="ppaction://noaction"/>
          </p:cNvPr>
          <p:cNvSpPr txBox="1">
            <a:spLocks noGrp="1"/>
          </p:cNvSpPr>
          <p:nvPr>
            <p:ph type="title" idx="2"/>
          </p:nvPr>
        </p:nvSpPr>
        <p:spPr>
          <a:xfrm>
            <a:off x="1525650" y="1960425"/>
            <a:ext cx="6092700" cy="1213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1"/>
        <p:cNvGrpSpPr/>
        <p:nvPr/>
      </p:nvGrpSpPr>
      <p:grpSpPr>
        <a:xfrm>
          <a:off x="0" y="0"/>
          <a:ext cx="0" cy="0"/>
          <a:chOff x="0" y="0"/>
          <a:chExt cx="0" cy="0"/>
        </a:xfrm>
      </p:grpSpPr>
      <p:sp>
        <p:nvSpPr>
          <p:cNvPr id="92" name="Google Shape;92;p4"/>
          <p:cNvSpPr/>
          <p:nvPr/>
        </p:nvSpPr>
        <p:spPr>
          <a:xfrm rot="-1762095" flipH="1">
            <a:off x="-645480" y="2383695"/>
            <a:ext cx="2540453" cy="3781447"/>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8708944" y="1700075"/>
            <a:ext cx="1844545" cy="1627040"/>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txBox="1">
            <a:spLocks noGrp="1"/>
          </p:cNvSpPr>
          <p:nvPr>
            <p:ph type="body" idx="1"/>
          </p:nvPr>
        </p:nvSpPr>
        <p:spPr>
          <a:xfrm>
            <a:off x="713250" y="1152475"/>
            <a:ext cx="77175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accent1"/>
              </a:buClr>
              <a:buSzPts val="120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
        <p:nvSpPr>
          <p:cNvPr id="95" name="Google Shape;95;p4"/>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6"/>
        <p:cNvGrpSpPr/>
        <p:nvPr/>
      </p:nvGrpSpPr>
      <p:grpSpPr>
        <a:xfrm>
          <a:off x="0" y="0"/>
          <a:ext cx="0" cy="0"/>
          <a:chOff x="0" y="0"/>
          <a:chExt cx="0" cy="0"/>
        </a:xfrm>
      </p:grpSpPr>
      <p:sp>
        <p:nvSpPr>
          <p:cNvPr id="97" name="Google Shape;97;p5"/>
          <p:cNvSpPr/>
          <p:nvPr/>
        </p:nvSpPr>
        <p:spPr>
          <a:xfrm flipH="1">
            <a:off x="75" y="1620000"/>
            <a:ext cx="9143837" cy="2281200"/>
          </a:xfrm>
          <a:custGeom>
            <a:avLst/>
            <a:gdLst/>
            <a:ahLst/>
            <a:cxnLst/>
            <a:rect l="l" t="t" r="r" b="b"/>
            <a:pathLst>
              <a:path w="305584" h="121664" extrusionOk="0">
                <a:moveTo>
                  <a:pt x="219307" y="0"/>
                </a:moveTo>
                <a:cubicBezTo>
                  <a:pt x="203338" y="0"/>
                  <a:pt x="187335" y="4914"/>
                  <a:pt x="174406" y="14271"/>
                </a:cubicBezTo>
                <a:cubicBezTo>
                  <a:pt x="167072" y="19544"/>
                  <a:pt x="160755" y="26102"/>
                  <a:pt x="153475" y="31428"/>
                </a:cubicBezTo>
                <a:cubicBezTo>
                  <a:pt x="146652" y="36401"/>
                  <a:pt x="138616" y="40348"/>
                  <a:pt x="130237" y="40348"/>
                </a:cubicBezTo>
                <a:cubicBezTo>
                  <a:pt x="129643" y="40348"/>
                  <a:pt x="129047" y="40328"/>
                  <a:pt x="128449" y="40287"/>
                </a:cubicBezTo>
                <a:cubicBezTo>
                  <a:pt x="122935" y="39913"/>
                  <a:pt x="117662" y="37771"/>
                  <a:pt x="112175" y="37076"/>
                </a:cubicBezTo>
                <a:cubicBezTo>
                  <a:pt x="110880" y="36911"/>
                  <a:pt x="109574" y="36830"/>
                  <a:pt x="108268" y="36830"/>
                </a:cubicBezTo>
                <a:cubicBezTo>
                  <a:pt x="102130" y="36830"/>
                  <a:pt x="95990" y="38624"/>
                  <a:pt x="90870" y="42000"/>
                </a:cubicBezTo>
                <a:cubicBezTo>
                  <a:pt x="84982" y="45881"/>
                  <a:pt x="80351" y="51743"/>
                  <a:pt x="73794" y="54339"/>
                </a:cubicBezTo>
                <a:cubicBezTo>
                  <a:pt x="70523" y="55637"/>
                  <a:pt x="67081" y="56009"/>
                  <a:pt x="63565" y="56009"/>
                </a:cubicBezTo>
                <a:cubicBezTo>
                  <a:pt x="58850" y="56009"/>
                  <a:pt x="54001" y="55340"/>
                  <a:pt x="49253" y="55340"/>
                </a:cubicBezTo>
                <a:cubicBezTo>
                  <a:pt x="46444" y="55340"/>
                  <a:pt x="43669" y="55575"/>
                  <a:pt x="40979" y="56320"/>
                </a:cubicBezTo>
                <a:cubicBezTo>
                  <a:pt x="25348" y="60629"/>
                  <a:pt x="16515" y="80811"/>
                  <a:pt x="322" y="81212"/>
                </a:cubicBezTo>
                <a:lnTo>
                  <a:pt x="1" y="105140"/>
                </a:lnTo>
                <a:cubicBezTo>
                  <a:pt x="1" y="105140"/>
                  <a:pt x="15474" y="110471"/>
                  <a:pt x="34154" y="110471"/>
                </a:cubicBezTo>
                <a:cubicBezTo>
                  <a:pt x="45744" y="110471"/>
                  <a:pt x="58569" y="108419"/>
                  <a:pt x="69698" y="101768"/>
                </a:cubicBezTo>
                <a:cubicBezTo>
                  <a:pt x="77727" y="96977"/>
                  <a:pt x="84000" y="95050"/>
                  <a:pt x="89631" y="95050"/>
                </a:cubicBezTo>
                <a:cubicBezTo>
                  <a:pt x="104388" y="95050"/>
                  <a:pt x="114744" y="108287"/>
                  <a:pt x="140761" y="117934"/>
                </a:cubicBezTo>
                <a:cubicBezTo>
                  <a:pt x="147990" y="120617"/>
                  <a:pt x="154305" y="121664"/>
                  <a:pt x="160177" y="121664"/>
                </a:cubicBezTo>
                <a:cubicBezTo>
                  <a:pt x="181037" y="121664"/>
                  <a:pt x="196328" y="108460"/>
                  <a:pt x="227278" y="108460"/>
                </a:cubicBezTo>
                <a:cubicBezTo>
                  <a:pt x="230911" y="108460"/>
                  <a:pt x="234759" y="108642"/>
                  <a:pt x="238857" y="109048"/>
                </a:cubicBezTo>
                <a:cubicBezTo>
                  <a:pt x="240758" y="109237"/>
                  <a:pt x="242612" y="109327"/>
                  <a:pt x="244420" y="109327"/>
                </a:cubicBezTo>
                <a:cubicBezTo>
                  <a:pt x="289069" y="109327"/>
                  <a:pt x="305584" y="54072"/>
                  <a:pt x="305584" y="54072"/>
                </a:cubicBezTo>
                <a:lnTo>
                  <a:pt x="305584" y="33917"/>
                </a:lnTo>
                <a:cubicBezTo>
                  <a:pt x="282994" y="28243"/>
                  <a:pt x="264927" y="11033"/>
                  <a:pt x="242792" y="3726"/>
                </a:cubicBezTo>
                <a:cubicBezTo>
                  <a:pt x="235229" y="1223"/>
                  <a:pt x="227273" y="0"/>
                  <a:pt x="2193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rot="5400000">
            <a:off x="-1596150" y="-854219"/>
            <a:ext cx="3561783" cy="3029652"/>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7699300" y="2874875"/>
            <a:ext cx="1176089" cy="1535988"/>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txBox="1">
            <a:spLocks noGrp="1"/>
          </p:cNvSpPr>
          <p:nvPr>
            <p:ph type="body" idx="1"/>
          </p:nvPr>
        </p:nvSpPr>
        <p:spPr>
          <a:xfrm>
            <a:off x="1101975" y="2260925"/>
            <a:ext cx="2954400" cy="1536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000000"/>
              </a:buClr>
              <a:buSzPts val="1400"/>
              <a:buFont typeface="Arial"/>
              <a:buChar char="●"/>
              <a:defRPr sz="1600"/>
            </a:lvl1pPr>
            <a:lvl2pPr marL="914400" lvl="1" indent="-317500">
              <a:spcBef>
                <a:spcPts val="0"/>
              </a:spcBef>
              <a:spcAft>
                <a:spcPts val="0"/>
              </a:spcAft>
              <a:buClr>
                <a:srgbClr val="000000"/>
              </a:buClr>
              <a:buSzPts val="1400"/>
              <a:buFont typeface="Arial"/>
              <a:buChar char="○"/>
              <a:defRPr sz="1200"/>
            </a:lvl2pPr>
            <a:lvl3pPr marL="1371600" lvl="2" indent="-317500">
              <a:spcBef>
                <a:spcPts val="0"/>
              </a:spcBef>
              <a:spcAft>
                <a:spcPts val="0"/>
              </a:spcAft>
              <a:buClr>
                <a:srgbClr val="000000"/>
              </a:buClr>
              <a:buSzPts val="1400"/>
              <a:buFont typeface="Arial"/>
              <a:buChar char="■"/>
              <a:defRPr sz="1200"/>
            </a:lvl3pPr>
            <a:lvl4pPr marL="1828800" lvl="3" indent="-317500">
              <a:spcBef>
                <a:spcPts val="0"/>
              </a:spcBef>
              <a:spcAft>
                <a:spcPts val="0"/>
              </a:spcAft>
              <a:buClr>
                <a:srgbClr val="000000"/>
              </a:buClr>
              <a:buSzPts val="1400"/>
              <a:buFont typeface="Arial"/>
              <a:buChar char="●"/>
              <a:defRPr sz="1200"/>
            </a:lvl4pPr>
            <a:lvl5pPr marL="2286000" lvl="4" indent="-317500">
              <a:spcBef>
                <a:spcPts val="0"/>
              </a:spcBef>
              <a:spcAft>
                <a:spcPts val="0"/>
              </a:spcAft>
              <a:buClr>
                <a:srgbClr val="000000"/>
              </a:buClr>
              <a:buSzPts val="1400"/>
              <a:buFont typeface="Arial"/>
              <a:buChar char="○"/>
              <a:defRPr sz="1200"/>
            </a:lvl5pPr>
            <a:lvl6pPr marL="2743200" lvl="5" indent="-317500">
              <a:spcBef>
                <a:spcPts val="0"/>
              </a:spcBef>
              <a:spcAft>
                <a:spcPts val="0"/>
              </a:spcAft>
              <a:buClr>
                <a:srgbClr val="000000"/>
              </a:buClr>
              <a:buSzPts val="1400"/>
              <a:buFont typeface="Arial"/>
              <a:buChar char="■"/>
              <a:defRPr sz="1200"/>
            </a:lvl6pPr>
            <a:lvl7pPr marL="3200400" lvl="6" indent="-317500">
              <a:spcBef>
                <a:spcPts val="0"/>
              </a:spcBef>
              <a:spcAft>
                <a:spcPts val="0"/>
              </a:spcAft>
              <a:buClr>
                <a:srgbClr val="000000"/>
              </a:buClr>
              <a:buSzPts val="1400"/>
              <a:buFont typeface="Arial"/>
              <a:buChar char="●"/>
              <a:defRPr sz="1200"/>
            </a:lvl7pPr>
            <a:lvl8pPr marL="3657600" lvl="7" indent="-317500">
              <a:spcBef>
                <a:spcPts val="0"/>
              </a:spcBef>
              <a:spcAft>
                <a:spcPts val="0"/>
              </a:spcAft>
              <a:buClr>
                <a:srgbClr val="000000"/>
              </a:buClr>
              <a:buSzPts val="1400"/>
              <a:buFont typeface="Arial"/>
              <a:buChar char="○"/>
              <a:defRPr sz="1200"/>
            </a:lvl8pPr>
            <a:lvl9pPr marL="4114800" lvl="8" indent="-317500">
              <a:spcBef>
                <a:spcPts val="0"/>
              </a:spcBef>
              <a:spcAft>
                <a:spcPts val="0"/>
              </a:spcAft>
              <a:buClr>
                <a:srgbClr val="000000"/>
              </a:buClr>
              <a:buSzPts val="1400"/>
              <a:buFont typeface="Arial"/>
              <a:buChar char="■"/>
              <a:defRPr sz="1200"/>
            </a:lvl9pPr>
          </a:lstStyle>
          <a:p>
            <a:endParaRPr/>
          </a:p>
        </p:txBody>
      </p:sp>
      <p:sp>
        <p:nvSpPr>
          <p:cNvPr id="101" name="Google Shape;101;p5"/>
          <p:cNvSpPr txBox="1">
            <a:spLocks noGrp="1"/>
          </p:cNvSpPr>
          <p:nvPr>
            <p:ph type="body" idx="2"/>
          </p:nvPr>
        </p:nvSpPr>
        <p:spPr>
          <a:xfrm>
            <a:off x="5071000" y="2260925"/>
            <a:ext cx="2954400" cy="1536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000000"/>
              </a:buClr>
              <a:buSzPts val="1400"/>
              <a:buFont typeface="Arial"/>
              <a:buChar char="●"/>
              <a:defRPr sz="1600"/>
            </a:lvl1pPr>
            <a:lvl2pPr marL="914400" lvl="1" indent="-317500">
              <a:spcBef>
                <a:spcPts val="0"/>
              </a:spcBef>
              <a:spcAft>
                <a:spcPts val="0"/>
              </a:spcAft>
              <a:buClr>
                <a:srgbClr val="000000"/>
              </a:buClr>
              <a:buSzPts val="1400"/>
              <a:buFont typeface="Arial"/>
              <a:buChar char="○"/>
              <a:defRPr sz="1200"/>
            </a:lvl2pPr>
            <a:lvl3pPr marL="1371600" lvl="2" indent="-317500">
              <a:spcBef>
                <a:spcPts val="0"/>
              </a:spcBef>
              <a:spcAft>
                <a:spcPts val="0"/>
              </a:spcAft>
              <a:buClr>
                <a:srgbClr val="000000"/>
              </a:buClr>
              <a:buSzPts val="1400"/>
              <a:buFont typeface="Arial"/>
              <a:buChar char="■"/>
              <a:defRPr sz="1200"/>
            </a:lvl3pPr>
            <a:lvl4pPr marL="1828800" lvl="3" indent="-317500">
              <a:spcBef>
                <a:spcPts val="0"/>
              </a:spcBef>
              <a:spcAft>
                <a:spcPts val="0"/>
              </a:spcAft>
              <a:buClr>
                <a:srgbClr val="000000"/>
              </a:buClr>
              <a:buSzPts val="1400"/>
              <a:buFont typeface="Arial"/>
              <a:buChar char="●"/>
              <a:defRPr sz="1200"/>
            </a:lvl4pPr>
            <a:lvl5pPr marL="2286000" lvl="4" indent="-317500">
              <a:spcBef>
                <a:spcPts val="0"/>
              </a:spcBef>
              <a:spcAft>
                <a:spcPts val="0"/>
              </a:spcAft>
              <a:buClr>
                <a:srgbClr val="000000"/>
              </a:buClr>
              <a:buSzPts val="1400"/>
              <a:buFont typeface="Arial"/>
              <a:buChar char="○"/>
              <a:defRPr sz="1200"/>
            </a:lvl5pPr>
            <a:lvl6pPr marL="2743200" lvl="5" indent="-317500">
              <a:spcBef>
                <a:spcPts val="0"/>
              </a:spcBef>
              <a:spcAft>
                <a:spcPts val="0"/>
              </a:spcAft>
              <a:buClr>
                <a:srgbClr val="000000"/>
              </a:buClr>
              <a:buSzPts val="1400"/>
              <a:buFont typeface="Arial"/>
              <a:buChar char="■"/>
              <a:defRPr sz="1200"/>
            </a:lvl6pPr>
            <a:lvl7pPr marL="3200400" lvl="6" indent="-317500">
              <a:spcBef>
                <a:spcPts val="0"/>
              </a:spcBef>
              <a:spcAft>
                <a:spcPts val="0"/>
              </a:spcAft>
              <a:buClr>
                <a:srgbClr val="000000"/>
              </a:buClr>
              <a:buSzPts val="1400"/>
              <a:buFont typeface="Arial"/>
              <a:buChar char="●"/>
              <a:defRPr sz="1200"/>
            </a:lvl7pPr>
            <a:lvl8pPr marL="3657600" lvl="7" indent="-317500">
              <a:spcBef>
                <a:spcPts val="0"/>
              </a:spcBef>
              <a:spcAft>
                <a:spcPts val="0"/>
              </a:spcAft>
              <a:buClr>
                <a:srgbClr val="000000"/>
              </a:buClr>
              <a:buSzPts val="1400"/>
              <a:buFont typeface="Arial"/>
              <a:buChar char="○"/>
              <a:defRPr sz="1200"/>
            </a:lvl8pPr>
            <a:lvl9pPr marL="4114800" lvl="8" indent="-317500">
              <a:spcBef>
                <a:spcPts val="0"/>
              </a:spcBef>
              <a:spcAft>
                <a:spcPts val="0"/>
              </a:spcAft>
              <a:buClr>
                <a:srgbClr val="000000"/>
              </a:buClr>
              <a:buSzPts val="1400"/>
              <a:buFont typeface="Arial"/>
              <a:buChar char="■"/>
              <a:defRPr sz="1200"/>
            </a:lvl9pPr>
          </a:lstStyle>
          <a:p>
            <a:endParaRPr/>
          </a:p>
        </p:txBody>
      </p:sp>
      <p:sp>
        <p:nvSpPr>
          <p:cNvPr id="102" name="Google Shape;102;p5"/>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5"/>
          <p:cNvSpPr txBox="1">
            <a:spLocks noGrp="1"/>
          </p:cNvSpPr>
          <p:nvPr>
            <p:ph type="subTitle" idx="3"/>
          </p:nvPr>
        </p:nvSpPr>
        <p:spPr>
          <a:xfrm>
            <a:off x="1118600" y="1666100"/>
            <a:ext cx="2954400" cy="467400"/>
          </a:xfrm>
          <a:prstGeom prst="rect">
            <a:avLst/>
          </a:prstGeom>
        </p:spPr>
        <p:txBody>
          <a:bodyPr spcFirstLastPara="1" wrap="square" lIns="91425" tIns="91425" rIns="91425" bIns="91425" anchor="t" anchorCtr="0">
            <a:noAutofit/>
          </a:bodyPr>
          <a:lstStyle>
            <a:lvl1pPr lvl="0" algn="ctr">
              <a:spcBef>
                <a:spcPts val="0"/>
              </a:spcBef>
              <a:spcAft>
                <a:spcPts val="0"/>
              </a:spcAft>
              <a:buSzPts val="2200"/>
              <a:buFont typeface="Hammersmith One"/>
              <a:buNone/>
              <a:defRPr sz="2200" b="1">
                <a:solidFill>
                  <a:schemeClr val="dk1"/>
                </a:solidFill>
                <a:latin typeface="Hammersmith One"/>
                <a:ea typeface="Hammersmith One"/>
                <a:cs typeface="Hammersmith One"/>
                <a:sym typeface="Hammersmith 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5"/>
          <p:cNvSpPr txBox="1">
            <a:spLocks noGrp="1"/>
          </p:cNvSpPr>
          <p:nvPr>
            <p:ph type="subTitle" idx="4"/>
          </p:nvPr>
        </p:nvSpPr>
        <p:spPr>
          <a:xfrm>
            <a:off x="5071000" y="1666100"/>
            <a:ext cx="2954400" cy="467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200"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5" name="Google Shape;105;p5"/>
          <p:cNvSpPr/>
          <p:nvPr/>
        </p:nvSpPr>
        <p:spPr>
          <a:xfrm rot="-1390808" flipH="1">
            <a:off x="4052075" y="2819900"/>
            <a:ext cx="1938821" cy="3305584"/>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0"/>
        <p:cNvGrpSpPr/>
        <p:nvPr/>
      </p:nvGrpSpPr>
      <p:grpSpPr>
        <a:xfrm>
          <a:off x="0" y="0"/>
          <a:ext cx="0" cy="0"/>
          <a:chOff x="0" y="0"/>
          <a:chExt cx="0" cy="0"/>
        </a:xfrm>
      </p:grpSpPr>
      <p:sp>
        <p:nvSpPr>
          <p:cNvPr id="151" name="Google Shape;151;p8"/>
          <p:cNvSpPr/>
          <p:nvPr/>
        </p:nvSpPr>
        <p:spPr>
          <a:xfrm rot="-1855510" flipH="1">
            <a:off x="2277590" y="326956"/>
            <a:ext cx="4979106" cy="4104445"/>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458900">
            <a:off x="-1050010" y="1201201"/>
            <a:ext cx="3369322" cy="3877052"/>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rot="-5776221" flipH="1">
            <a:off x="5743624" y="-1186688"/>
            <a:ext cx="4752751" cy="434645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rot="8329862" flipH="1">
            <a:off x="3226188" y="-1327516"/>
            <a:ext cx="2044712" cy="348606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8"/>
          <p:cNvSpPr/>
          <p:nvPr/>
        </p:nvSpPr>
        <p:spPr>
          <a:xfrm>
            <a:off x="7018450" y="3331851"/>
            <a:ext cx="1020984" cy="1333420"/>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txBox="1">
            <a:spLocks noGrp="1"/>
          </p:cNvSpPr>
          <p:nvPr>
            <p:ph type="title"/>
          </p:nvPr>
        </p:nvSpPr>
        <p:spPr>
          <a:xfrm>
            <a:off x="1388100" y="1557450"/>
            <a:ext cx="6367800" cy="2028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_7">
    <p:spTree>
      <p:nvGrpSpPr>
        <p:cNvPr id="1" name="Shape 211"/>
        <p:cNvGrpSpPr/>
        <p:nvPr/>
      </p:nvGrpSpPr>
      <p:grpSpPr>
        <a:xfrm>
          <a:off x="0" y="0"/>
          <a:ext cx="0" cy="0"/>
          <a:chOff x="0" y="0"/>
          <a:chExt cx="0" cy="0"/>
        </a:xfrm>
      </p:grpSpPr>
      <p:sp>
        <p:nvSpPr>
          <p:cNvPr id="212" name="Google Shape;212;p13"/>
          <p:cNvSpPr/>
          <p:nvPr/>
        </p:nvSpPr>
        <p:spPr>
          <a:xfrm>
            <a:off x="7233675" y="-730075"/>
            <a:ext cx="3030078" cy="3486687"/>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3"/>
          <p:cNvSpPr/>
          <p:nvPr/>
        </p:nvSpPr>
        <p:spPr>
          <a:xfrm rot="2540379">
            <a:off x="-721411" y="3502530"/>
            <a:ext cx="2268525" cy="1945325"/>
          </a:xfrm>
          <a:custGeom>
            <a:avLst/>
            <a:gdLst/>
            <a:ahLst/>
            <a:cxnLst/>
            <a:rect l="l" t="t" r="r" b="b"/>
            <a:pathLst>
              <a:path w="40029" h="34326" extrusionOk="0">
                <a:moveTo>
                  <a:pt x="7939" y="1669"/>
                </a:moveTo>
                <a:cubicBezTo>
                  <a:pt x="12943" y="3370"/>
                  <a:pt x="11275" y="10875"/>
                  <a:pt x="18780" y="8040"/>
                </a:cubicBezTo>
                <a:cubicBezTo>
                  <a:pt x="26286" y="5238"/>
                  <a:pt x="30722" y="3770"/>
                  <a:pt x="35392" y="8040"/>
                </a:cubicBezTo>
                <a:cubicBezTo>
                  <a:pt x="40029" y="12343"/>
                  <a:pt x="29621" y="14411"/>
                  <a:pt x="33991" y="20682"/>
                </a:cubicBezTo>
                <a:cubicBezTo>
                  <a:pt x="38361" y="26920"/>
                  <a:pt x="27520" y="34325"/>
                  <a:pt x="19814" y="30523"/>
                </a:cubicBezTo>
                <a:cubicBezTo>
                  <a:pt x="12109" y="26720"/>
                  <a:pt x="4937" y="23851"/>
                  <a:pt x="2502" y="16613"/>
                </a:cubicBezTo>
                <a:cubicBezTo>
                  <a:pt x="0" y="9207"/>
                  <a:pt x="2936" y="1"/>
                  <a:pt x="7939" y="16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3"/>
          <p:cNvSpPr txBox="1">
            <a:spLocks noGrp="1"/>
          </p:cNvSpPr>
          <p:nvPr>
            <p:ph type="subTitle" idx="1"/>
          </p:nvPr>
        </p:nvSpPr>
        <p:spPr>
          <a:xfrm>
            <a:off x="3905700" y="3380175"/>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15" name="Google Shape;215;p13"/>
          <p:cNvSpPr txBox="1">
            <a:spLocks noGrp="1"/>
          </p:cNvSpPr>
          <p:nvPr>
            <p:ph type="subTitle" idx="2"/>
          </p:nvPr>
        </p:nvSpPr>
        <p:spPr>
          <a:xfrm>
            <a:off x="1391100" y="3380175"/>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16" name="Google Shape;216;p13"/>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17" name="Google Shape;217;p13">
            <a:hlinkClick r:id="" action="ppaction://noaction"/>
          </p:cNvPr>
          <p:cNvSpPr txBox="1">
            <a:spLocks noGrp="1"/>
          </p:cNvSpPr>
          <p:nvPr>
            <p:ph type="subTitle" idx="3"/>
          </p:nvPr>
        </p:nvSpPr>
        <p:spPr>
          <a:xfrm>
            <a:off x="1391100" y="1434475"/>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18" name="Google Shape;218;p13">
            <a:hlinkClick r:id="" action="ppaction://noaction"/>
          </p:cNvPr>
          <p:cNvSpPr txBox="1">
            <a:spLocks noGrp="1"/>
          </p:cNvSpPr>
          <p:nvPr>
            <p:ph type="subTitle" idx="4"/>
          </p:nvPr>
        </p:nvSpPr>
        <p:spPr>
          <a:xfrm>
            <a:off x="3905700" y="1434475"/>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19" name="Google Shape;219;p13">
            <a:hlinkClick r:id="" action="ppaction://noaction"/>
          </p:cNvPr>
          <p:cNvSpPr txBox="1">
            <a:spLocks noGrp="1"/>
          </p:cNvSpPr>
          <p:nvPr>
            <p:ph type="subTitle" idx="5"/>
          </p:nvPr>
        </p:nvSpPr>
        <p:spPr>
          <a:xfrm>
            <a:off x="1391100" y="2992287"/>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20" name="Google Shape;220;p13">
            <a:hlinkClick r:id="" action="ppaction://noaction"/>
          </p:cNvPr>
          <p:cNvSpPr txBox="1">
            <a:spLocks noGrp="1"/>
          </p:cNvSpPr>
          <p:nvPr>
            <p:ph type="subTitle" idx="6"/>
          </p:nvPr>
        </p:nvSpPr>
        <p:spPr>
          <a:xfrm>
            <a:off x="3905700" y="2992287"/>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21" name="Google Shape;221;p13"/>
          <p:cNvSpPr txBox="1">
            <a:spLocks noGrp="1"/>
          </p:cNvSpPr>
          <p:nvPr>
            <p:ph type="subTitle" idx="7"/>
          </p:nvPr>
        </p:nvSpPr>
        <p:spPr>
          <a:xfrm>
            <a:off x="1391100" y="1825209"/>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2" name="Google Shape;222;p13"/>
          <p:cNvSpPr txBox="1">
            <a:spLocks noGrp="1"/>
          </p:cNvSpPr>
          <p:nvPr>
            <p:ph type="subTitle" idx="8"/>
          </p:nvPr>
        </p:nvSpPr>
        <p:spPr>
          <a:xfrm>
            <a:off x="3905700" y="1825209"/>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3" name="Google Shape;223;p13">
            <a:hlinkClick r:id="" action="ppaction://noaction"/>
          </p:cNvPr>
          <p:cNvSpPr txBox="1">
            <a:spLocks noGrp="1"/>
          </p:cNvSpPr>
          <p:nvPr>
            <p:ph type="title" idx="9" hasCustomPrompt="1"/>
          </p:nvPr>
        </p:nvSpPr>
        <p:spPr>
          <a:xfrm>
            <a:off x="792175" y="1434475"/>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24" name="Google Shape;224;p13">
            <a:hlinkClick r:id="" action="ppaction://noaction"/>
          </p:cNvPr>
          <p:cNvSpPr txBox="1">
            <a:spLocks noGrp="1"/>
          </p:cNvSpPr>
          <p:nvPr>
            <p:ph type="title" idx="13" hasCustomPrompt="1"/>
          </p:nvPr>
        </p:nvSpPr>
        <p:spPr>
          <a:xfrm>
            <a:off x="3314700" y="1434475"/>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25" name="Google Shape;225;p13">
            <a:hlinkClick r:id="" action="ppaction://noaction"/>
          </p:cNvPr>
          <p:cNvSpPr txBox="1">
            <a:spLocks noGrp="1"/>
          </p:cNvSpPr>
          <p:nvPr>
            <p:ph type="title" idx="14" hasCustomPrompt="1"/>
          </p:nvPr>
        </p:nvSpPr>
        <p:spPr>
          <a:xfrm>
            <a:off x="792175" y="2992276"/>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26" name="Google Shape;226;p13">
            <a:hlinkClick r:id="" action="ppaction://noaction"/>
          </p:cNvPr>
          <p:cNvSpPr txBox="1">
            <a:spLocks noGrp="1"/>
          </p:cNvSpPr>
          <p:nvPr>
            <p:ph type="title" idx="15" hasCustomPrompt="1"/>
          </p:nvPr>
        </p:nvSpPr>
        <p:spPr>
          <a:xfrm>
            <a:off x="3314700" y="2992276"/>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27" name="Google Shape;227;p13"/>
          <p:cNvSpPr txBox="1">
            <a:spLocks noGrp="1"/>
          </p:cNvSpPr>
          <p:nvPr>
            <p:ph type="subTitle" idx="16"/>
          </p:nvPr>
        </p:nvSpPr>
        <p:spPr>
          <a:xfrm>
            <a:off x="6428225" y="3380175"/>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8" name="Google Shape;228;p13">
            <a:hlinkClick r:id="" action="ppaction://noaction"/>
          </p:cNvPr>
          <p:cNvSpPr txBox="1">
            <a:spLocks noGrp="1"/>
          </p:cNvSpPr>
          <p:nvPr>
            <p:ph type="subTitle" idx="17"/>
          </p:nvPr>
        </p:nvSpPr>
        <p:spPr>
          <a:xfrm>
            <a:off x="6428225" y="1434475"/>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29" name="Google Shape;229;p13">
            <a:hlinkClick r:id="" action="ppaction://noaction"/>
          </p:cNvPr>
          <p:cNvSpPr txBox="1">
            <a:spLocks noGrp="1"/>
          </p:cNvSpPr>
          <p:nvPr>
            <p:ph type="subTitle" idx="18"/>
          </p:nvPr>
        </p:nvSpPr>
        <p:spPr>
          <a:xfrm>
            <a:off x="6428225" y="2992287"/>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30" name="Google Shape;230;p13"/>
          <p:cNvSpPr txBox="1">
            <a:spLocks noGrp="1"/>
          </p:cNvSpPr>
          <p:nvPr>
            <p:ph type="subTitle" idx="19"/>
          </p:nvPr>
        </p:nvSpPr>
        <p:spPr>
          <a:xfrm>
            <a:off x="6428225" y="1825209"/>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1" name="Google Shape;231;p13">
            <a:hlinkClick r:id="" action="ppaction://noaction"/>
          </p:cNvPr>
          <p:cNvSpPr txBox="1">
            <a:spLocks noGrp="1"/>
          </p:cNvSpPr>
          <p:nvPr>
            <p:ph type="title" idx="20" hasCustomPrompt="1"/>
          </p:nvPr>
        </p:nvSpPr>
        <p:spPr>
          <a:xfrm>
            <a:off x="5837225" y="1434475"/>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32" name="Google Shape;232;p13">
            <a:hlinkClick r:id="" action="ppaction://noaction"/>
          </p:cNvPr>
          <p:cNvSpPr txBox="1">
            <a:spLocks noGrp="1"/>
          </p:cNvSpPr>
          <p:nvPr>
            <p:ph type="title" idx="21" hasCustomPrompt="1"/>
          </p:nvPr>
        </p:nvSpPr>
        <p:spPr>
          <a:xfrm>
            <a:off x="5837225" y="2992276"/>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1">
  <p:cSld name="CUSTOM_47">
    <p:spTree>
      <p:nvGrpSpPr>
        <p:cNvPr id="1" name="Shape 950"/>
        <p:cNvGrpSpPr/>
        <p:nvPr/>
      </p:nvGrpSpPr>
      <p:grpSpPr>
        <a:xfrm>
          <a:off x="0" y="0"/>
          <a:ext cx="0" cy="0"/>
          <a:chOff x="0" y="0"/>
          <a:chExt cx="0" cy="0"/>
        </a:xfrm>
      </p:grpSpPr>
      <p:grpSp>
        <p:nvGrpSpPr>
          <p:cNvPr id="951" name="Google Shape;951;p38"/>
          <p:cNvGrpSpPr/>
          <p:nvPr/>
        </p:nvGrpSpPr>
        <p:grpSpPr>
          <a:xfrm flipH="1">
            <a:off x="6914055" y="-80449"/>
            <a:ext cx="2277317" cy="5304377"/>
            <a:chOff x="224725" y="566950"/>
            <a:chExt cx="1850875" cy="4311100"/>
          </a:xfrm>
        </p:grpSpPr>
        <p:sp>
          <p:nvSpPr>
            <p:cNvPr id="952" name="Google Shape;952;p38"/>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8"/>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8"/>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8"/>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8"/>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8"/>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8"/>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8"/>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8"/>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8"/>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8"/>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8"/>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8"/>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8"/>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8"/>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8"/>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8"/>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8"/>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8"/>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8"/>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8"/>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8"/>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8"/>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8"/>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6" name="Google Shape;976;p38"/>
          <p:cNvSpPr/>
          <p:nvPr/>
        </p:nvSpPr>
        <p:spPr>
          <a:xfrm rot="5400000" flipH="1">
            <a:off x="-2397294" y="-774472"/>
            <a:ext cx="5570538" cy="362945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8"/>
          <p:cNvSpPr/>
          <p:nvPr/>
        </p:nvSpPr>
        <p:spPr>
          <a:xfrm rot="-7977677">
            <a:off x="6626195" y="2407944"/>
            <a:ext cx="1601627" cy="1536805"/>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8"/>
          <p:cNvSpPr/>
          <p:nvPr/>
        </p:nvSpPr>
        <p:spPr>
          <a:xfrm rot="667591">
            <a:off x="5320685" y="2755692"/>
            <a:ext cx="1938907" cy="330573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8"/>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80" name="Google Shape;980;p38"/>
          <p:cNvSpPr txBox="1">
            <a:spLocks noGrp="1"/>
          </p:cNvSpPr>
          <p:nvPr>
            <p:ph type="subTitle" idx="1"/>
          </p:nvPr>
        </p:nvSpPr>
        <p:spPr>
          <a:xfrm>
            <a:off x="1613400" y="1323950"/>
            <a:ext cx="3573300" cy="454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1" name="Google Shape;981;p38"/>
          <p:cNvSpPr txBox="1">
            <a:spLocks noGrp="1"/>
          </p:cNvSpPr>
          <p:nvPr>
            <p:ph type="subTitle" idx="2"/>
          </p:nvPr>
        </p:nvSpPr>
        <p:spPr>
          <a:xfrm>
            <a:off x="1613400" y="2377655"/>
            <a:ext cx="3573300" cy="454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2" name="Google Shape;982;p38"/>
          <p:cNvSpPr txBox="1">
            <a:spLocks noGrp="1"/>
          </p:cNvSpPr>
          <p:nvPr>
            <p:ph type="subTitle" idx="3"/>
          </p:nvPr>
        </p:nvSpPr>
        <p:spPr>
          <a:xfrm>
            <a:off x="1613400" y="1791690"/>
            <a:ext cx="35733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83" name="Google Shape;983;p38"/>
          <p:cNvSpPr txBox="1">
            <a:spLocks noGrp="1"/>
          </p:cNvSpPr>
          <p:nvPr>
            <p:ph type="subTitle" idx="4"/>
          </p:nvPr>
        </p:nvSpPr>
        <p:spPr>
          <a:xfrm>
            <a:off x="1613400" y="2845395"/>
            <a:ext cx="35733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84" name="Google Shape;984;p38"/>
          <p:cNvSpPr txBox="1">
            <a:spLocks noGrp="1"/>
          </p:cNvSpPr>
          <p:nvPr>
            <p:ph type="subTitle" idx="5"/>
          </p:nvPr>
        </p:nvSpPr>
        <p:spPr>
          <a:xfrm>
            <a:off x="1613400" y="3431360"/>
            <a:ext cx="3573300" cy="454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5" name="Google Shape;985;p38"/>
          <p:cNvSpPr txBox="1">
            <a:spLocks noGrp="1"/>
          </p:cNvSpPr>
          <p:nvPr>
            <p:ph type="subTitle" idx="6"/>
          </p:nvPr>
        </p:nvSpPr>
        <p:spPr>
          <a:xfrm>
            <a:off x="1613400" y="3899100"/>
            <a:ext cx="35733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44250" y="445025"/>
            <a:ext cx="8055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1pPr>
            <a:lvl2pPr lvl="1">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2pPr>
            <a:lvl3pPr lvl="2">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3pPr>
            <a:lvl4pPr lvl="3">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4pPr>
            <a:lvl5pPr lvl="4">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5pPr>
            <a:lvl6pPr lvl="5">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6pPr>
            <a:lvl7pPr lvl="6">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7pPr>
            <a:lvl8pPr lvl="7">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8pPr>
            <a:lvl9pPr lvl="8">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9pPr>
          </a:lstStyle>
          <a:p>
            <a:endParaRPr/>
          </a:p>
        </p:txBody>
      </p:sp>
      <p:sp>
        <p:nvSpPr>
          <p:cNvPr id="7" name="Google Shape;7;p1"/>
          <p:cNvSpPr txBox="1">
            <a:spLocks noGrp="1"/>
          </p:cNvSpPr>
          <p:nvPr>
            <p:ph type="body" idx="1"/>
          </p:nvPr>
        </p:nvSpPr>
        <p:spPr>
          <a:xfrm>
            <a:off x="544250" y="1152475"/>
            <a:ext cx="8055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2"/>
              </a:buClr>
              <a:buSzPts val="1800"/>
              <a:buFont typeface="Manjari"/>
              <a:buChar char="●"/>
              <a:defRPr sz="1800">
                <a:solidFill>
                  <a:schemeClr val="accent2"/>
                </a:solidFill>
                <a:latin typeface="Manjari"/>
                <a:ea typeface="Manjari"/>
                <a:cs typeface="Manjari"/>
                <a:sym typeface="Manjari"/>
              </a:defRPr>
            </a:lvl1pPr>
            <a:lvl2pPr marL="914400" lvl="1"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2pPr>
            <a:lvl3pPr marL="1371600" lvl="2"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3pPr>
            <a:lvl4pPr marL="1828800" lvl="3"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4pPr>
            <a:lvl5pPr marL="2286000" lvl="4"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5pPr>
            <a:lvl6pPr marL="2743200" lvl="5"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6pPr>
            <a:lvl7pPr marL="3200400" lvl="6"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7pPr>
            <a:lvl8pPr marL="3657600" lvl="7"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8pPr>
            <a:lvl9pPr marL="4114800" lvl="8"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9" r:id="rId6"/>
    <p:sldLayoutId id="2147483684" r:id="rId7"/>
  </p:sldLayoutIdLst>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43">
          <p15:clr>
            <a:srgbClr val="E46962"/>
          </p15:clr>
        </p15:guide>
        <p15:guide id="2" pos="5417">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5"/>
        <p:cNvGrpSpPr/>
        <p:nvPr/>
      </p:nvGrpSpPr>
      <p:grpSpPr>
        <a:xfrm>
          <a:off x="0" y="0"/>
          <a:ext cx="0" cy="0"/>
          <a:chOff x="0" y="0"/>
          <a:chExt cx="0" cy="0"/>
        </a:xfrm>
      </p:grpSpPr>
      <p:sp>
        <p:nvSpPr>
          <p:cNvPr id="2006" name="Google Shape;2006;p83"/>
          <p:cNvSpPr txBox="1">
            <a:spLocks noGrp="1"/>
          </p:cNvSpPr>
          <p:nvPr>
            <p:ph type="ctrTitle"/>
          </p:nvPr>
        </p:nvSpPr>
        <p:spPr>
          <a:xfrm>
            <a:off x="1283094" y="1290750"/>
            <a:ext cx="65778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solidFill>
                  <a:schemeClr val="accent2"/>
                </a:solidFill>
              </a:rPr>
              <a:t>Scrapy : Web Crawler</a:t>
            </a:r>
            <a:endParaRPr dirty="0">
              <a:solidFill>
                <a:schemeClr val="accent2"/>
              </a:solidFill>
            </a:endParaRPr>
          </a:p>
        </p:txBody>
      </p:sp>
      <p:sp>
        <p:nvSpPr>
          <p:cNvPr id="2007" name="Google Shape;2007;p83"/>
          <p:cNvSpPr txBox="1">
            <a:spLocks noGrp="1"/>
          </p:cNvSpPr>
          <p:nvPr>
            <p:ph type="subTitle" idx="1"/>
          </p:nvPr>
        </p:nvSpPr>
        <p:spPr>
          <a:xfrm>
            <a:off x="1283100" y="3394625"/>
            <a:ext cx="6577800" cy="45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A tool for scraping the web</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46C5-3C9F-2680-9EFA-1E1570D03F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65F16C-CBE0-6230-39A7-38EF667608EB}"/>
              </a:ext>
            </a:extLst>
          </p:cNvPr>
          <p:cNvSpPr>
            <a:spLocks noGrp="1"/>
          </p:cNvSpPr>
          <p:nvPr>
            <p:ph type="title"/>
          </p:nvPr>
        </p:nvSpPr>
        <p:spPr>
          <a:xfrm>
            <a:off x="559217" y="354647"/>
            <a:ext cx="8025566" cy="449288"/>
          </a:xfrm>
        </p:spPr>
        <p:txBody>
          <a:bodyPr/>
          <a:lstStyle/>
          <a:p>
            <a:pPr algn="l"/>
            <a:r>
              <a:rPr lang="en-US" sz="1800" dirty="0">
                <a:solidFill>
                  <a:srgbClr val="40474B"/>
                </a:solidFill>
                <a:latin typeface="Hammersmith One" panose="02010703030501060504" pitchFamily="2" charset="0"/>
              </a:rPr>
              <a:t>Have you ever wondered how ChatGPT searches for data on other sites?</a:t>
            </a:r>
            <a:endParaRPr lang="en-IN" sz="1800" dirty="0"/>
          </a:p>
        </p:txBody>
      </p:sp>
      <p:grpSp>
        <p:nvGrpSpPr>
          <p:cNvPr id="20" name="Group 19">
            <a:extLst>
              <a:ext uri="{FF2B5EF4-FFF2-40B4-BE49-F238E27FC236}">
                <a16:creationId xmlns:a16="http://schemas.microsoft.com/office/drawing/2014/main" id="{0AFC0C75-2409-BB59-C6F4-CE756A3E380D}"/>
              </a:ext>
            </a:extLst>
          </p:cNvPr>
          <p:cNvGrpSpPr/>
          <p:nvPr/>
        </p:nvGrpSpPr>
        <p:grpSpPr>
          <a:xfrm>
            <a:off x="119921" y="1456189"/>
            <a:ext cx="8683142" cy="2231121"/>
            <a:chOff x="74951" y="1358069"/>
            <a:chExt cx="8683142" cy="2231121"/>
          </a:xfrm>
        </p:grpSpPr>
        <p:pic>
          <p:nvPicPr>
            <p:cNvPr id="4" name="Picture 3">
              <a:extLst>
                <a:ext uri="{FF2B5EF4-FFF2-40B4-BE49-F238E27FC236}">
                  <a16:creationId xmlns:a16="http://schemas.microsoft.com/office/drawing/2014/main" id="{AE52F9CE-67F9-6A18-FED2-6C1AA6A80225}"/>
                </a:ext>
              </a:extLst>
            </p:cNvPr>
            <p:cNvPicPr>
              <a:picLocks noChangeAspect="1"/>
            </p:cNvPicPr>
            <p:nvPr/>
          </p:nvPicPr>
          <p:blipFill>
            <a:blip r:embed="rId2"/>
            <a:stretch>
              <a:fillRect/>
            </a:stretch>
          </p:blipFill>
          <p:spPr>
            <a:xfrm>
              <a:off x="74951" y="1370609"/>
              <a:ext cx="4317168" cy="2218581"/>
            </a:xfrm>
            <a:prstGeom prst="rect">
              <a:avLst/>
            </a:prstGeom>
          </p:spPr>
        </p:pic>
        <p:pic>
          <p:nvPicPr>
            <p:cNvPr id="5" name="Picture 4">
              <a:extLst>
                <a:ext uri="{FF2B5EF4-FFF2-40B4-BE49-F238E27FC236}">
                  <a16:creationId xmlns:a16="http://schemas.microsoft.com/office/drawing/2014/main" id="{F76BDC37-2EBB-5120-C9A5-BCC2275D15F6}"/>
                </a:ext>
              </a:extLst>
            </p:cNvPr>
            <p:cNvPicPr>
              <a:picLocks noChangeAspect="1"/>
            </p:cNvPicPr>
            <p:nvPr/>
          </p:nvPicPr>
          <p:blipFill>
            <a:blip r:embed="rId3"/>
            <a:stretch>
              <a:fillRect/>
            </a:stretch>
          </p:blipFill>
          <p:spPr>
            <a:xfrm>
              <a:off x="4721907" y="1358069"/>
              <a:ext cx="4036186" cy="2231121"/>
            </a:xfrm>
            <a:prstGeom prst="rect">
              <a:avLst/>
            </a:prstGeom>
          </p:spPr>
        </p:pic>
        <p:cxnSp>
          <p:nvCxnSpPr>
            <p:cNvPr id="12" name="Straight Arrow Connector 11">
              <a:extLst>
                <a:ext uri="{FF2B5EF4-FFF2-40B4-BE49-F238E27FC236}">
                  <a16:creationId xmlns:a16="http://schemas.microsoft.com/office/drawing/2014/main" id="{7587D8BE-FD57-5265-F679-EC1D2F438D11}"/>
                </a:ext>
              </a:extLst>
            </p:cNvPr>
            <p:cNvCxnSpPr>
              <a:cxnSpLocks/>
            </p:cNvCxnSpPr>
            <p:nvPr/>
          </p:nvCxnSpPr>
          <p:spPr>
            <a:xfrm>
              <a:off x="4249713" y="2487647"/>
              <a:ext cx="614598" cy="0"/>
            </a:xfrm>
            <a:prstGeom prst="straightConnector1">
              <a:avLst/>
            </a:prstGeom>
            <a:ln>
              <a:solidFill>
                <a:srgbClr val="FFC000"/>
              </a:solidFill>
              <a:headEnd type="arrow" w="med" len="med"/>
              <a:tailEnd type="arrow" w="med" len="med"/>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893360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538D35-71AD-9BBD-F5EF-E082937A22A4}"/>
              </a:ext>
            </a:extLst>
          </p:cNvPr>
          <p:cNvSpPr>
            <a:spLocks noGrp="1"/>
          </p:cNvSpPr>
          <p:nvPr>
            <p:ph type="title" idx="2"/>
          </p:nvPr>
        </p:nvSpPr>
        <p:spPr/>
        <p:txBody>
          <a:bodyPr/>
          <a:lstStyle/>
          <a:p>
            <a:r>
              <a:rPr lang="en-US" dirty="0"/>
              <a:t>Web Scraping</a:t>
            </a:r>
            <a:endParaRPr lang="en-IN" dirty="0"/>
          </a:p>
        </p:txBody>
      </p:sp>
    </p:spTree>
    <p:extLst>
      <p:ext uri="{BB962C8B-B14F-4D97-AF65-F5344CB8AC3E}">
        <p14:creationId xmlns:p14="http://schemas.microsoft.com/office/powerpoint/2010/main" val="47825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199958-424B-93B0-46F6-AC7452B34A18}"/>
              </a:ext>
            </a:extLst>
          </p:cNvPr>
          <p:cNvSpPr>
            <a:spLocks noGrp="1"/>
          </p:cNvSpPr>
          <p:nvPr>
            <p:ph type="body" idx="1"/>
          </p:nvPr>
        </p:nvSpPr>
        <p:spPr>
          <a:xfrm>
            <a:off x="713250" y="1064525"/>
            <a:ext cx="7717500" cy="952961"/>
          </a:xfrm>
        </p:spPr>
        <p:txBody>
          <a:bodyPr/>
          <a:lstStyle/>
          <a:p>
            <a:pPr marL="152400" indent="0">
              <a:buNone/>
            </a:pPr>
            <a:r>
              <a:rPr lang="en-US" b="1" dirty="0">
                <a:solidFill>
                  <a:schemeClr val="bg1">
                    <a:lumMod val="10000"/>
                  </a:schemeClr>
                </a:solidFill>
                <a:latin typeface="Manjari" panose="020B0604020202020204" charset="0"/>
                <a:cs typeface="Manjari" panose="020B0604020202020204" charset="0"/>
              </a:rPr>
              <a:t>💡 Web scraping is the automated process of extracting specific data from websites, saving you time compared to manual copy-pasting.</a:t>
            </a:r>
          </a:p>
          <a:p>
            <a:pPr marL="152400" indent="0">
              <a:buNone/>
            </a:pPr>
            <a:endParaRPr lang="en-US" dirty="0">
              <a:solidFill>
                <a:schemeClr val="bg1">
                  <a:lumMod val="10000"/>
                </a:schemeClr>
              </a:solidFill>
              <a:latin typeface="Manjari" panose="020B0604020202020204" charset="0"/>
              <a:cs typeface="Manjari" panose="020B0604020202020204" charset="0"/>
            </a:endParaRPr>
          </a:p>
          <a:p>
            <a:pPr marL="152400" indent="0">
              <a:buNone/>
            </a:pPr>
            <a:r>
              <a:rPr lang="en-US" dirty="0">
                <a:solidFill>
                  <a:schemeClr val="bg1">
                    <a:lumMod val="10000"/>
                  </a:schemeClr>
                </a:solidFill>
                <a:latin typeface="Manjari" panose="020B0604020202020204" charset="0"/>
                <a:cs typeface="Manjari" panose="020B0604020202020204" charset="0"/>
              </a:rPr>
              <a:t>📌 </a:t>
            </a:r>
            <a:r>
              <a:rPr lang="en-US" b="1" dirty="0">
                <a:solidFill>
                  <a:schemeClr val="bg1">
                    <a:lumMod val="10000"/>
                  </a:schemeClr>
                </a:solidFill>
                <a:latin typeface="Manjari" panose="020B0604020202020204" charset="0"/>
                <a:cs typeface="Manjari" panose="020B0604020202020204" charset="0"/>
              </a:rPr>
              <a:t>Web Scraping = Visiting a website + Extracting useful data</a:t>
            </a:r>
          </a:p>
        </p:txBody>
      </p:sp>
      <p:sp>
        <p:nvSpPr>
          <p:cNvPr id="3" name="Title 2">
            <a:extLst>
              <a:ext uri="{FF2B5EF4-FFF2-40B4-BE49-F238E27FC236}">
                <a16:creationId xmlns:a16="http://schemas.microsoft.com/office/drawing/2014/main" id="{6A84D538-E8EB-7422-DF8D-4C7B081959F5}"/>
              </a:ext>
            </a:extLst>
          </p:cNvPr>
          <p:cNvSpPr>
            <a:spLocks noGrp="1"/>
          </p:cNvSpPr>
          <p:nvPr>
            <p:ph type="title"/>
          </p:nvPr>
        </p:nvSpPr>
        <p:spPr/>
        <p:txBody>
          <a:bodyPr/>
          <a:lstStyle/>
          <a:p>
            <a:r>
              <a:rPr lang="en-IN" dirty="0"/>
              <a:t>What is Web Scraping?</a:t>
            </a:r>
          </a:p>
        </p:txBody>
      </p:sp>
      <p:sp>
        <p:nvSpPr>
          <p:cNvPr id="4" name="Text Placeholder 1">
            <a:extLst>
              <a:ext uri="{FF2B5EF4-FFF2-40B4-BE49-F238E27FC236}">
                <a16:creationId xmlns:a16="http://schemas.microsoft.com/office/drawing/2014/main" id="{FF31C404-AEA2-E2CE-225E-482C7BF34AC7}"/>
              </a:ext>
            </a:extLst>
          </p:cNvPr>
          <p:cNvSpPr txBox="1">
            <a:spLocks/>
          </p:cNvSpPr>
          <p:nvPr/>
        </p:nvSpPr>
        <p:spPr>
          <a:xfrm>
            <a:off x="895630" y="2017486"/>
            <a:ext cx="7717500" cy="16711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chemeClr val="bg1">
                    <a:lumMod val="10000"/>
                  </a:schemeClr>
                </a:solidFill>
                <a:latin typeface="Manjari" panose="020B0604020202020204" charset="0"/>
                <a:cs typeface="Manjari" panose="020B0604020202020204" charset="0"/>
              </a:rPr>
              <a:t>Is Web Scraping Legal?</a:t>
            </a:r>
            <a:r>
              <a:rPr kumimoji="0" lang="en-US" altLang="en-US"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Allowed when:</a:t>
            </a:r>
          </a:p>
          <a:p>
            <a:pPr marL="457200" lvl="1" indent="0" eaLnBrk="0" fontAlgn="base" hangingPunct="0">
              <a:spcBef>
                <a:spcPct val="0"/>
              </a:spcBef>
              <a:spcAft>
                <a:spcPct val="0"/>
              </a:spcAft>
              <a:buClrTx/>
              <a:buSzTx/>
              <a:buFontTx/>
              <a:buChar char="•"/>
            </a:pPr>
            <a:r>
              <a:rPr kumimoji="0" lang="en-US" altLang="en-US" sz="12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Data is publicly available</a:t>
            </a:r>
          </a:p>
          <a:p>
            <a:pPr marL="457200" lvl="1" indent="0" eaLnBrk="0" fontAlgn="base" hangingPunct="0">
              <a:spcBef>
                <a:spcPct val="0"/>
              </a:spcBef>
              <a:spcAft>
                <a:spcPct val="0"/>
              </a:spcAft>
              <a:buClrTx/>
              <a:buSzTx/>
              <a:buFontTx/>
              <a:buChar char="•"/>
            </a:pPr>
            <a:r>
              <a:rPr kumimoji="0" lang="en-US" altLang="en-US" sz="12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The website’s ‘robot.txt’ allows it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bg1">
                  <a:lumMod val="10000"/>
                </a:schemeClr>
              </a:solidFill>
              <a:effectLst/>
              <a:latin typeface="Manjari" panose="020B0604020202020204" charset="0"/>
              <a:cs typeface="Manjar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Not allowed when:</a:t>
            </a:r>
          </a:p>
          <a:p>
            <a:pPr marL="457200" lvl="1" indent="0" eaLnBrk="0" fontAlgn="base" hangingPunct="0">
              <a:spcBef>
                <a:spcPct val="0"/>
              </a:spcBef>
              <a:spcAft>
                <a:spcPct val="0"/>
              </a:spcAft>
              <a:buClrTx/>
              <a:buSzTx/>
              <a:buFontTx/>
              <a:buChar char="•"/>
            </a:pPr>
            <a:r>
              <a:rPr kumimoji="0" lang="en-US" altLang="en-US" sz="12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Scraping personal/private data</a:t>
            </a:r>
          </a:p>
          <a:p>
            <a:pPr marL="457200" lvl="1" indent="0" eaLnBrk="0" fontAlgn="base" hangingPunct="0">
              <a:spcBef>
                <a:spcPct val="0"/>
              </a:spcBef>
              <a:spcAft>
                <a:spcPct val="0"/>
              </a:spcAft>
              <a:buClrTx/>
              <a:buSzTx/>
              <a:buFontTx/>
              <a:buChar char="•"/>
            </a:pPr>
            <a:r>
              <a:rPr kumimoji="0" lang="en-US" altLang="en-US" sz="12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Ignoring a website’s terms of use</a:t>
            </a:r>
          </a:p>
        </p:txBody>
      </p:sp>
      <p:pic>
        <p:nvPicPr>
          <p:cNvPr id="5" name="Picture 4">
            <a:extLst>
              <a:ext uri="{FF2B5EF4-FFF2-40B4-BE49-F238E27FC236}">
                <a16:creationId xmlns:a16="http://schemas.microsoft.com/office/drawing/2014/main" id="{0026982A-F9E5-A257-D536-1815C5DEA872}"/>
              </a:ext>
            </a:extLst>
          </p:cNvPr>
          <p:cNvPicPr>
            <a:picLocks noChangeAspect="1"/>
          </p:cNvPicPr>
          <p:nvPr/>
        </p:nvPicPr>
        <p:blipFill>
          <a:blip r:embed="rId2"/>
          <a:stretch>
            <a:fillRect/>
          </a:stretch>
        </p:blipFill>
        <p:spPr>
          <a:xfrm>
            <a:off x="4439588" y="2178521"/>
            <a:ext cx="3808782" cy="2278743"/>
          </a:xfrm>
          <a:prstGeom prst="rect">
            <a:avLst/>
          </a:prstGeom>
        </p:spPr>
      </p:pic>
    </p:spTree>
    <p:extLst>
      <p:ext uri="{BB962C8B-B14F-4D97-AF65-F5344CB8AC3E}">
        <p14:creationId xmlns:p14="http://schemas.microsoft.com/office/powerpoint/2010/main" val="3578393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8150CD-E9BD-5CAA-CF79-62C8FCB55101}"/>
              </a:ext>
            </a:extLst>
          </p:cNvPr>
          <p:cNvSpPr>
            <a:spLocks noGrp="1"/>
          </p:cNvSpPr>
          <p:nvPr>
            <p:ph type="body" idx="1"/>
          </p:nvPr>
        </p:nvSpPr>
        <p:spPr>
          <a:xfrm>
            <a:off x="338496" y="1122494"/>
            <a:ext cx="7717500" cy="3416400"/>
          </a:xfrm>
        </p:spPr>
        <p:txBody>
          <a:bodyPr/>
          <a:lstStyle/>
          <a:p>
            <a:pPr>
              <a:buNone/>
            </a:pPr>
            <a:r>
              <a:rPr lang="en-US" sz="1400" dirty="0">
                <a:solidFill>
                  <a:schemeClr val="bg1">
                    <a:lumMod val="10000"/>
                  </a:schemeClr>
                </a:solidFill>
                <a:latin typeface="Manjari" panose="020B0604020202020204" charset="0"/>
                <a:cs typeface="Manjari" panose="020B0604020202020204" charset="0"/>
              </a:rPr>
              <a:t>📝 </a:t>
            </a:r>
            <a:r>
              <a:rPr lang="en-US" sz="1400" i="1" dirty="0">
                <a:solidFill>
                  <a:schemeClr val="bg1">
                    <a:lumMod val="10000"/>
                  </a:schemeClr>
                </a:solidFill>
                <a:latin typeface="Manjari" panose="020B0604020202020204" charset="0"/>
                <a:cs typeface="Manjari" panose="020B0604020202020204" charset="0"/>
              </a:rPr>
              <a:t>"Imagine you need the prices of 500 laptops from Amazon. Will you copy-paste them manually?"</a:t>
            </a:r>
            <a:endParaRPr lang="en-US" sz="1400" dirty="0">
              <a:solidFill>
                <a:schemeClr val="bg1">
                  <a:lumMod val="10000"/>
                </a:schemeClr>
              </a:solidFill>
            </a:endParaRPr>
          </a:p>
          <a:p>
            <a:pPr>
              <a:buNone/>
            </a:pPr>
            <a:endParaRPr lang="en-IN" sz="1400" dirty="0">
              <a:solidFill>
                <a:schemeClr val="bg1">
                  <a:lumMod val="10000"/>
                </a:schemeClr>
              </a:solidFill>
            </a:endParaRPr>
          </a:p>
          <a:p>
            <a:pPr>
              <a:buNone/>
            </a:pPr>
            <a:r>
              <a:rPr lang="en-IN" sz="1400" b="1" dirty="0">
                <a:solidFill>
                  <a:schemeClr val="bg1">
                    <a:lumMod val="10000"/>
                  </a:schemeClr>
                </a:solidFill>
              </a:rPr>
              <a:t>3 Common Methods:</a:t>
            </a:r>
          </a:p>
          <a:p>
            <a:pPr>
              <a:buNone/>
            </a:pPr>
            <a:endParaRPr lang="en-IN" sz="1400" b="1" dirty="0">
              <a:solidFill>
                <a:schemeClr val="bg1">
                  <a:lumMod val="10000"/>
                </a:schemeClr>
              </a:solidFill>
            </a:endParaRPr>
          </a:p>
          <a:p>
            <a:pPr>
              <a:buNone/>
            </a:pPr>
            <a:r>
              <a:rPr lang="en-IN" sz="1400" dirty="0">
                <a:solidFill>
                  <a:schemeClr val="bg1">
                    <a:lumMod val="10000"/>
                  </a:schemeClr>
                </a:solidFill>
              </a:rPr>
              <a:t>1️⃣ </a:t>
            </a:r>
            <a:r>
              <a:rPr lang="en-IN" sz="1400" b="1" dirty="0">
                <a:solidFill>
                  <a:schemeClr val="bg1">
                    <a:lumMod val="10000"/>
                  </a:schemeClr>
                </a:solidFill>
              </a:rPr>
              <a:t>Manual Collection</a:t>
            </a:r>
            <a:r>
              <a:rPr lang="en-IN" sz="1400" dirty="0">
                <a:solidFill>
                  <a:schemeClr val="bg1">
                    <a:lumMod val="10000"/>
                  </a:schemeClr>
                </a:solidFill>
              </a:rPr>
              <a:t> 📝 (Slow &amp; tiring)</a:t>
            </a:r>
          </a:p>
          <a:p>
            <a:pPr marL="152400" indent="0">
              <a:buNone/>
            </a:pPr>
            <a:r>
              <a:rPr lang="en-IN" sz="1400" dirty="0">
                <a:solidFill>
                  <a:schemeClr val="bg1">
                    <a:lumMod val="10000"/>
                  </a:schemeClr>
                </a:solidFill>
              </a:rPr>
              <a:t>Example: Copying product prices from Amazon manually</a:t>
            </a:r>
          </a:p>
          <a:p>
            <a:pPr marL="152400" indent="0">
              <a:buNone/>
            </a:pPr>
            <a:br>
              <a:rPr lang="en-IN" sz="1400" dirty="0">
                <a:solidFill>
                  <a:schemeClr val="bg1">
                    <a:lumMod val="10000"/>
                  </a:schemeClr>
                </a:solidFill>
              </a:rPr>
            </a:br>
            <a:r>
              <a:rPr lang="en-IN" sz="1400" dirty="0">
                <a:solidFill>
                  <a:schemeClr val="bg1">
                    <a:lumMod val="10000"/>
                  </a:schemeClr>
                </a:solidFill>
              </a:rPr>
              <a:t>2️⃣ </a:t>
            </a:r>
            <a:r>
              <a:rPr lang="en-IN" sz="1400" b="1" dirty="0">
                <a:solidFill>
                  <a:schemeClr val="bg1">
                    <a:lumMod val="10000"/>
                  </a:schemeClr>
                </a:solidFill>
              </a:rPr>
              <a:t>APIs</a:t>
            </a:r>
            <a:r>
              <a:rPr lang="en-IN" sz="1400" dirty="0">
                <a:solidFill>
                  <a:schemeClr val="bg1">
                    <a:lumMod val="10000"/>
                  </a:schemeClr>
                </a:solidFill>
              </a:rPr>
              <a:t> 🔗 (Limited access, but structured)</a:t>
            </a:r>
          </a:p>
          <a:p>
            <a:pPr marL="152400" indent="0">
              <a:buNone/>
            </a:pPr>
            <a:r>
              <a:rPr lang="en-IN" sz="1400" dirty="0">
                <a:solidFill>
                  <a:schemeClr val="bg1">
                    <a:lumMod val="10000"/>
                  </a:schemeClr>
                </a:solidFill>
              </a:rPr>
              <a:t>Example: Twitter API for tweet analysis</a:t>
            </a:r>
          </a:p>
          <a:p>
            <a:pPr marL="152400" indent="0">
              <a:buNone/>
            </a:pPr>
            <a:br>
              <a:rPr lang="en-IN" sz="1400" dirty="0">
                <a:solidFill>
                  <a:schemeClr val="bg1">
                    <a:lumMod val="10000"/>
                  </a:schemeClr>
                </a:solidFill>
              </a:rPr>
            </a:br>
            <a:r>
              <a:rPr lang="en-IN" sz="1400" dirty="0">
                <a:solidFill>
                  <a:schemeClr val="bg1">
                    <a:lumMod val="10000"/>
                  </a:schemeClr>
                </a:solidFill>
              </a:rPr>
              <a:t>3️⃣ </a:t>
            </a:r>
            <a:r>
              <a:rPr lang="en-IN" sz="1400" b="1" dirty="0">
                <a:solidFill>
                  <a:schemeClr val="bg1">
                    <a:lumMod val="10000"/>
                  </a:schemeClr>
                </a:solidFill>
              </a:rPr>
              <a:t>Web Scraping</a:t>
            </a:r>
            <a:r>
              <a:rPr lang="en-IN" sz="1400" dirty="0">
                <a:solidFill>
                  <a:schemeClr val="bg1">
                    <a:lumMod val="10000"/>
                  </a:schemeClr>
                </a:solidFill>
              </a:rPr>
              <a:t> 🌐 (Fast &amp; scalable)</a:t>
            </a:r>
          </a:p>
          <a:p>
            <a:pPr marL="152400" indent="0">
              <a:buNone/>
            </a:pPr>
            <a:r>
              <a:rPr lang="en-IN" sz="1400" dirty="0">
                <a:solidFill>
                  <a:schemeClr val="bg1">
                    <a:lumMod val="10000"/>
                  </a:schemeClr>
                </a:solidFill>
              </a:rPr>
              <a:t>Example: Collecting news headlines automatically</a:t>
            </a:r>
          </a:p>
        </p:txBody>
      </p:sp>
      <p:sp>
        <p:nvSpPr>
          <p:cNvPr id="3" name="Title 2">
            <a:extLst>
              <a:ext uri="{FF2B5EF4-FFF2-40B4-BE49-F238E27FC236}">
                <a16:creationId xmlns:a16="http://schemas.microsoft.com/office/drawing/2014/main" id="{A5BFCA58-B381-1757-6613-4FD265C78677}"/>
              </a:ext>
            </a:extLst>
          </p:cNvPr>
          <p:cNvSpPr>
            <a:spLocks noGrp="1"/>
          </p:cNvSpPr>
          <p:nvPr>
            <p:ph type="title"/>
          </p:nvPr>
        </p:nvSpPr>
        <p:spPr>
          <a:xfrm>
            <a:off x="713250" y="384036"/>
            <a:ext cx="7717500" cy="541500"/>
          </a:xfrm>
        </p:spPr>
        <p:txBody>
          <a:bodyPr/>
          <a:lstStyle/>
          <a:p>
            <a:r>
              <a:rPr lang="en-IN" dirty="0"/>
              <a:t>Why Web Scraping</a:t>
            </a:r>
          </a:p>
        </p:txBody>
      </p:sp>
      <p:pic>
        <p:nvPicPr>
          <p:cNvPr id="4" name="Picture 3">
            <a:extLst>
              <a:ext uri="{FF2B5EF4-FFF2-40B4-BE49-F238E27FC236}">
                <a16:creationId xmlns:a16="http://schemas.microsoft.com/office/drawing/2014/main" id="{072D4DF1-09A2-A71C-5361-9DF39F9E3CEE}"/>
              </a:ext>
            </a:extLst>
          </p:cNvPr>
          <p:cNvPicPr>
            <a:picLocks noChangeAspect="1"/>
          </p:cNvPicPr>
          <p:nvPr/>
        </p:nvPicPr>
        <p:blipFill>
          <a:blip r:embed="rId2"/>
          <a:stretch>
            <a:fillRect/>
          </a:stretch>
        </p:blipFill>
        <p:spPr>
          <a:xfrm>
            <a:off x="5958024" y="2997424"/>
            <a:ext cx="2533238" cy="1465742"/>
          </a:xfrm>
          <a:prstGeom prst="rect">
            <a:avLst/>
          </a:prstGeom>
        </p:spPr>
      </p:pic>
      <p:pic>
        <p:nvPicPr>
          <p:cNvPr id="6" name="Graphic 5" descr="Gold bars with solid fill">
            <a:extLst>
              <a:ext uri="{FF2B5EF4-FFF2-40B4-BE49-F238E27FC236}">
                <a16:creationId xmlns:a16="http://schemas.microsoft.com/office/drawing/2014/main" id="{532019F9-0300-B7EC-DFFE-49F5DACA33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7184" y="1743822"/>
            <a:ext cx="914400" cy="914400"/>
          </a:xfrm>
          <a:prstGeom prst="rect">
            <a:avLst/>
          </a:prstGeom>
        </p:spPr>
      </p:pic>
      <p:pic>
        <p:nvPicPr>
          <p:cNvPr id="8" name="Graphic 7" descr="Web design with solid fill">
            <a:extLst>
              <a:ext uri="{FF2B5EF4-FFF2-40B4-BE49-F238E27FC236}">
                <a16:creationId xmlns:a16="http://schemas.microsoft.com/office/drawing/2014/main" id="{91B29415-16FE-3E88-B801-22A80BA7C81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88642" y="1747261"/>
            <a:ext cx="914400" cy="914400"/>
          </a:xfrm>
          <a:prstGeom prst="rect">
            <a:avLst/>
          </a:prstGeom>
        </p:spPr>
      </p:pic>
      <p:pic>
        <p:nvPicPr>
          <p:cNvPr id="10" name="Graphic 9" descr="Wireless with solid fill">
            <a:extLst>
              <a:ext uri="{FF2B5EF4-FFF2-40B4-BE49-F238E27FC236}">
                <a16:creationId xmlns:a16="http://schemas.microsoft.com/office/drawing/2014/main" id="{BB8C6C90-D813-B019-DD74-C1E3D82818C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400000">
            <a:off x="7017966" y="1747261"/>
            <a:ext cx="457200" cy="457200"/>
          </a:xfrm>
          <a:prstGeom prst="rect">
            <a:avLst/>
          </a:prstGeom>
        </p:spPr>
      </p:pic>
      <p:cxnSp>
        <p:nvCxnSpPr>
          <p:cNvPr id="11" name="Straight Arrow Connector 10">
            <a:extLst>
              <a:ext uri="{FF2B5EF4-FFF2-40B4-BE49-F238E27FC236}">
                <a16:creationId xmlns:a16="http://schemas.microsoft.com/office/drawing/2014/main" id="{4536C1F7-B78C-D288-24A0-83055E100174}"/>
              </a:ext>
            </a:extLst>
          </p:cNvPr>
          <p:cNvCxnSpPr>
            <a:cxnSpLocks/>
          </p:cNvCxnSpPr>
          <p:nvPr/>
        </p:nvCxnSpPr>
        <p:spPr>
          <a:xfrm>
            <a:off x="6917344" y="2204461"/>
            <a:ext cx="614598" cy="0"/>
          </a:xfrm>
          <a:prstGeom prst="straightConnector1">
            <a:avLst/>
          </a:prstGeom>
          <a:ln>
            <a:headEnd type="arrow" w="med" len="med"/>
            <a:tailEnd type="arrow" w="med" len="med"/>
          </a:ln>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A2B93C57-3025-80E9-63E4-2925C338D7A5}"/>
              </a:ext>
            </a:extLst>
          </p:cNvPr>
          <p:cNvSpPr txBox="1"/>
          <p:nvPr/>
        </p:nvSpPr>
        <p:spPr>
          <a:xfrm>
            <a:off x="5870668" y="2658222"/>
            <a:ext cx="2707950" cy="276999"/>
          </a:xfrm>
          <a:prstGeom prst="rect">
            <a:avLst/>
          </a:prstGeom>
          <a:noFill/>
        </p:spPr>
        <p:txBody>
          <a:bodyPr wrap="square">
            <a:spAutoFit/>
          </a:bodyPr>
          <a:lstStyle/>
          <a:p>
            <a:pPr algn="ctr">
              <a:buNone/>
            </a:pPr>
            <a:r>
              <a:rPr lang="en-US" sz="1200" b="1" dirty="0">
                <a:solidFill>
                  <a:schemeClr val="bg1">
                    <a:lumMod val="10000"/>
                  </a:schemeClr>
                </a:solidFill>
              </a:rPr>
              <a:t>The Internet = A Goldmine of Data</a:t>
            </a:r>
          </a:p>
        </p:txBody>
      </p:sp>
    </p:spTree>
    <p:extLst>
      <p:ext uri="{BB962C8B-B14F-4D97-AF65-F5344CB8AC3E}">
        <p14:creationId xmlns:p14="http://schemas.microsoft.com/office/powerpoint/2010/main" val="498708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058D4-264E-8D0B-5E0B-FEBA3F2F4E8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F57DA5F-50D6-D2AC-15F9-CF41FDD5A54E}"/>
              </a:ext>
            </a:extLst>
          </p:cNvPr>
          <p:cNvSpPr>
            <a:spLocks noGrp="1"/>
          </p:cNvSpPr>
          <p:nvPr>
            <p:ph type="body" idx="1"/>
          </p:nvPr>
        </p:nvSpPr>
        <p:spPr>
          <a:xfrm>
            <a:off x="370114" y="1281959"/>
            <a:ext cx="3858750" cy="2579582"/>
          </a:xfrm>
        </p:spPr>
        <p:txBody>
          <a:bodyPr/>
          <a:lstStyle/>
          <a:p>
            <a:pPr>
              <a:buNone/>
            </a:pPr>
            <a:r>
              <a:rPr lang="en-US" sz="1200" b="1" dirty="0"/>
              <a:t>🛒 1. Price Monitoring: Track prices from websites like Amazon or Flipkart</a:t>
            </a:r>
          </a:p>
          <a:p>
            <a:pPr>
              <a:buNone/>
            </a:pPr>
            <a:r>
              <a:rPr lang="en-US" sz="1200" b="1" dirty="0"/>
              <a:t>🔍 Use Case: Compare prices, monitor competitors, get price-drop alerts</a:t>
            </a:r>
          </a:p>
          <a:p>
            <a:pPr>
              <a:buNone/>
            </a:pPr>
            <a:endParaRPr lang="en-US" sz="1200" b="1" dirty="0"/>
          </a:p>
          <a:p>
            <a:pPr>
              <a:buNone/>
            </a:pPr>
            <a:r>
              <a:rPr lang="en-US" sz="1200" b="1" dirty="0"/>
              <a:t>📰 2. News Aggregation: Collect latest headlines and summaries from news portals</a:t>
            </a:r>
          </a:p>
          <a:p>
            <a:pPr>
              <a:buNone/>
            </a:pPr>
            <a:r>
              <a:rPr lang="en-US" sz="1200" b="1" dirty="0"/>
              <a:t>🗞️ Use Case: Build a personalized news dashboard or newsletter</a:t>
            </a:r>
          </a:p>
          <a:p>
            <a:pPr>
              <a:buNone/>
            </a:pPr>
            <a:endParaRPr lang="en-US" sz="1200" b="1" dirty="0"/>
          </a:p>
          <a:p>
            <a:pPr>
              <a:buFont typeface="Arial"/>
              <a:buNone/>
            </a:pPr>
            <a:r>
              <a:rPr lang="en-US" sz="1200" b="1" dirty="0"/>
              <a:t>💼 3. Job Listings &amp; Resume Extraction: Scrape job details from LinkedIn, Indeed, etc.</a:t>
            </a:r>
          </a:p>
          <a:p>
            <a:pPr>
              <a:buFont typeface="Arial"/>
              <a:buNone/>
            </a:pPr>
            <a:r>
              <a:rPr lang="en-US" sz="1200" b="1" dirty="0"/>
              <a:t>🔧 Use Case: Job search engines, alerts, or resume screening tools</a:t>
            </a:r>
          </a:p>
        </p:txBody>
      </p:sp>
      <p:sp>
        <p:nvSpPr>
          <p:cNvPr id="3" name="Title 2">
            <a:extLst>
              <a:ext uri="{FF2B5EF4-FFF2-40B4-BE49-F238E27FC236}">
                <a16:creationId xmlns:a16="http://schemas.microsoft.com/office/drawing/2014/main" id="{3BFBD2A5-FB9D-7484-6387-2440D4C49CB9}"/>
              </a:ext>
            </a:extLst>
          </p:cNvPr>
          <p:cNvSpPr>
            <a:spLocks noGrp="1"/>
          </p:cNvSpPr>
          <p:nvPr>
            <p:ph type="title"/>
          </p:nvPr>
        </p:nvSpPr>
        <p:spPr>
          <a:xfrm>
            <a:off x="713250" y="396644"/>
            <a:ext cx="7717500" cy="541500"/>
          </a:xfrm>
        </p:spPr>
        <p:txBody>
          <a:bodyPr/>
          <a:lstStyle/>
          <a:p>
            <a:r>
              <a:rPr lang="en-IN" sz="2800" dirty="0"/>
              <a:t>Applications of Web Scraping</a:t>
            </a:r>
          </a:p>
        </p:txBody>
      </p:sp>
      <p:sp>
        <p:nvSpPr>
          <p:cNvPr id="15" name="Text Placeholder 1">
            <a:extLst>
              <a:ext uri="{FF2B5EF4-FFF2-40B4-BE49-F238E27FC236}">
                <a16:creationId xmlns:a16="http://schemas.microsoft.com/office/drawing/2014/main" id="{FF2204D7-65CE-5E5F-B406-FB8E78C20259}"/>
              </a:ext>
            </a:extLst>
          </p:cNvPr>
          <p:cNvSpPr txBox="1">
            <a:spLocks/>
          </p:cNvSpPr>
          <p:nvPr/>
        </p:nvSpPr>
        <p:spPr>
          <a:xfrm>
            <a:off x="4719773" y="1281959"/>
            <a:ext cx="3996056" cy="31383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rgbClr val="000000"/>
              </a:buClr>
              <a:buSzPts val="1400"/>
              <a:buFont typeface="Arial"/>
              <a:buChar char="●"/>
              <a:defRPr sz="1600" b="0" i="0" u="none" strike="noStrike" cap="none">
                <a:solidFill>
                  <a:schemeClr val="accent2"/>
                </a:solidFill>
                <a:latin typeface="Manjari"/>
                <a:ea typeface="Manjari"/>
                <a:cs typeface="Manjari"/>
                <a:sym typeface="Manjari"/>
              </a:defRPr>
            </a:lvl1pPr>
            <a:lvl2pPr marL="914400" marR="0" lvl="1" indent="-317500" algn="l" rtl="0">
              <a:lnSpc>
                <a:spcPct val="100000"/>
              </a:lnSpc>
              <a:spcBef>
                <a:spcPts val="0"/>
              </a:spcBef>
              <a:spcAft>
                <a:spcPts val="0"/>
              </a:spcAft>
              <a:buClr>
                <a:srgbClr val="000000"/>
              </a:buClr>
              <a:buSzPts val="1400"/>
              <a:buFont typeface="Arial"/>
              <a:buChar char="○"/>
              <a:defRPr sz="1200"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rgbClr val="000000"/>
              </a:buClr>
              <a:buSzPts val="1400"/>
              <a:buFont typeface="Arial"/>
              <a:buChar char="■"/>
              <a:defRPr sz="1200"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rgbClr val="000000"/>
              </a:buClr>
              <a:buSzPts val="1400"/>
              <a:buFont typeface="Arial"/>
              <a:buChar char="●"/>
              <a:defRPr sz="1200"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rgbClr val="000000"/>
              </a:buClr>
              <a:buSzPts val="1400"/>
              <a:buFont typeface="Arial"/>
              <a:buChar char="○"/>
              <a:defRPr sz="1200"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rgbClr val="000000"/>
              </a:buClr>
              <a:buSzPts val="1400"/>
              <a:buFont typeface="Arial"/>
              <a:buChar char="■"/>
              <a:defRPr sz="1200"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rgbClr val="000000"/>
              </a:buClr>
              <a:buSzPts val="1400"/>
              <a:buFont typeface="Arial"/>
              <a:buChar char="●"/>
              <a:defRPr sz="1200"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rgbClr val="000000"/>
              </a:buClr>
              <a:buSzPts val="1400"/>
              <a:buFont typeface="Arial"/>
              <a:buChar char="○"/>
              <a:defRPr sz="1200"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rgbClr val="000000"/>
              </a:buClr>
              <a:buSzPts val="1400"/>
              <a:buFont typeface="Arial"/>
              <a:buChar char="■"/>
              <a:defRPr sz="1200" b="0" i="0" u="none" strike="noStrike" cap="none">
                <a:solidFill>
                  <a:schemeClr val="accent2"/>
                </a:solidFill>
                <a:latin typeface="Manjari"/>
                <a:ea typeface="Manjari"/>
                <a:cs typeface="Manjari"/>
                <a:sym typeface="Manjari"/>
              </a:defRPr>
            </a:lvl9pPr>
          </a:lstStyle>
          <a:p>
            <a:pPr>
              <a:buFont typeface="Arial"/>
              <a:buNone/>
            </a:pPr>
            <a:r>
              <a:rPr lang="en-US" sz="1200" b="1" dirty="0"/>
              <a:t>🎓 4. Academic Research / ML Datasets: Gather large-scale data for analysis or model training</a:t>
            </a:r>
          </a:p>
          <a:p>
            <a:pPr>
              <a:buFont typeface="Arial"/>
              <a:buNone/>
            </a:pPr>
            <a:r>
              <a:rPr lang="en-US" sz="1200" b="1" dirty="0"/>
              <a:t>📊 Use Case: Create custom datasets for NLP, sentiment analysis, etc.</a:t>
            </a:r>
          </a:p>
          <a:p>
            <a:pPr>
              <a:buFont typeface="Arial"/>
              <a:buNone/>
            </a:pPr>
            <a:endParaRPr lang="en-US" sz="1200" b="1" dirty="0"/>
          </a:p>
          <a:p>
            <a:pPr>
              <a:buFont typeface="Arial"/>
              <a:buNone/>
            </a:pPr>
            <a:r>
              <a:rPr lang="en-US" sz="1200" b="1" dirty="0"/>
              <a:t>📈 5. Financial Market Data: Fetch stock prices, crypto rates, or economic indicators</a:t>
            </a:r>
          </a:p>
          <a:p>
            <a:pPr>
              <a:buFont typeface="Arial"/>
              <a:buNone/>
            </a:pPr>
            <a:r>
              <a:rPr lang="en-US" sz="1200" b="1" dirty="0"/>
              <a:t>💹 Use Case: Build investment dashboards, alerts, or prediction models</a:t>
            </a:r>
          </a:p>
          <a:p>
            <a:pPr>
              <a:buFont typeface="Arial"/>
              <a:buNone/>
            </a:pPr>
            <a:endParaRPr lang="en-US" sz="1200" b="1" dirty="0"/>
          </a:p>
          <a:p>
            <a:pPr>
              <a:buNone/>
            </a:pPr>
            <a:r>
              <a:rPr lang="en-US" sz="1200" b="1" dirty="0"/>
              <a:t>🏠 6. Real Estate Listings: Scrape housing data from property websites</a:t>
            </a:r>
          </a:p>
          <a:p>
            <a:pPr>
              <a:buNone/>
            </a:pPr>
            <a:r>
              <a:rPr lang="en-US" sz="1200" b="1" dirty="0"/>
              <a:t>📍 Use Case: Compare listings, track rent trends, or build a listing aggregator</a:t>
            </a:r>
          </a:p>
          <a:p>
            <a:pPr>
              <a:buFont typeface="Arial"/>
              <a:buNone/>
            </a:pPr>
            <a:endParaRPr lang="en-US" sz="1200" b="1" dirty="0"/>
          </a:p>
        </p:txBody>
      </p:sp>
    </p:spTree>
    <p:extLst>
      <p:ext uri="{BB962C8B-B14F-4D97-AF65-F5344CB8AC3E}">
        <p14:creationId xmlns:p14="http://schemas.microsoft.com/office/powerpoint/2010/main" val="2987504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3B773F-001F-9645-8178-8CF95E19142A}"/>
              </a:ext>
            </a:extLst>
          </p:cNvPr>
          <p:cNvSpPr>
            <a:spLocks noGrp="1"/>
          </p:cNvSpPr>
          <p:nvPr>
            <p:ph type="body" idx="1"/>
          </p:nvPr>
        </p:nvSpPr>
        <p:spPr>
          <a:xfrm>
            <a:off x="713250" y="1449186"/>
            <a:ext cx="7717500" cy="2353558"/>
          </a:xfrm>
        </p:spPr>
        <p:txBody>
          <a:bodyPr numCol="2"/>
          <a:lstStyle/>
          <a:p>
            <a:pPr>
              <a:buNone/>
            </a:pPr>
            <a:r>
              <a:rPr lang="en-IN" sz="1300" dirty="0"/>
              <a:t>🐍 </a:t>
            </a:r>
            <a:r>
              <a:rPr lang="en-IN" sz="1300" b="1" dirty="0"/>
              <a:t>Python</a:t>
            </a:r>
            <a:br>
              <a:rPr lang="en-IN" sz="1300" dirty="0"/>
            </a:br>
            <a:r>
              <a:rPr lang="en-IN" sz="1300" dirty="0"/>
              <a:t>• Scrapy — Fast &amp; scalable</a:t>
            </a:r>
            <a:br>
              <a:rPr lang="en-IN" sz="1300" dirty="0"/>
            </a:br>
            <a:r>
              <a:rPr lang="en-IN" sz="1300" dirty="0"/>
              <a:t>• </a:t>
            </a:r>
            <a:r>
              <a:rPr lang="en-IN" sz="1300" dirty="0" err="1"/>
              <a:t>BeautifulSoup</a:t>
            </a:r>
            <a:r>
              <a:rPr lang="en-IN" sz="1300" dirty="0"/>
              <a:t> — Easy HTML/XML parsing</a:t>
            </a:r>
            <a:br>
              <a:rPr lang="en-IN" sz="1300" dirty="0"/>
            </a:br>
            <a:r>
              <a:rPr lang="en-IN" sz="1300" dirty="0"/>
              <a:t>• Selenium — Handles dynamic sites</a:t>
            </a:r>
            <a:br>
              <a:rPr lang="en-IN" sz="1300" dirty="0"/>
            </a:br>
            <a:r>
              <a:rPr lang="en-IN" sz="1300" dirty="0"/>
              <a:t>• Requests + </a:t>
            </a:r>
            <a:r>
              <a:rPr lang="en-IN" sz="1300" dirty="0" err="1"/>
              <a:t>lxml</a:t>
            </a:r>
            <a:r>
              <a:rPr lang="en-IN" sz="1300" dirty="0"/>
              <a:t> — Lightweight, for basics</a:t>
            </a:r>
          </a:p>
          <a:p>
            <a:pPr>
              <a:buNone/>
            </a:pPr>
            <a:endParaRPr lang="en-IN" sz="1300" dirty="0"/>
          </a:p>
          <a:p>
            <a:pPr>
              <a:buNone/>
            </a:pPr>
            <a:endParaRPr lang="en-IN" sz="1300" dirty="0"/>
          </a:p>
          <a:p>
            <a:pPr>
              <a:buNone/>
            </a:pPr>
            <a:r>
              <a:rPr lang="en-IN" sz="1300" dirty="0"/>
              <a:t>💻 </a:t>
            </a:r>
            <a:r>
              <a:rPr lang="en-IN" sz="1300" b="1" dirty="0"/>
              <a:t>JavaScript / Node.js</a:t>
            </a:r>
            <a:br>
              <a:rPr lang="en-IN" sz="1300" dirty="0"/>
            </a:br>
            <a:r>
              <a:rPr lang="en-IN" sz="1300" dirty="0"/>
              <a:t>• Puppeteer — Headless Chrome automation</a:t>
            </a:r>
            <a:br>
              <a:rPr lang="en-IN" sz="1300" dirty="0"/>
            </a:br>
            <a:r>
              <a:rPr lang="en-IN" sz="1300" dirty="0"/>
              <a:t>• Playwright — Cross-browser scraping</a:t>
            </a:r>
            <a:br>
              <a:rPr lang="en-IN" sz="1300" dirty="0"/>
            </a:br>
            <a:r>
              <a:rPr lang="en-IN" sz="1300" dirty="0"/>
              <a:t>• Cheerio — jQuery-style HTML parsing</a:t>
            </a:r>
          </a:p>
          <a:p>
            <a:pPr>
              <a:buNone/>
            </a:pPr>
            <a:endParaRPr lang="en-IN" sz="1300" dirty="0"/>
          </a:p>
          <a:p>
            <a:pPr>
              <a:buNone/>
            </a:pPr>
            <a:r>
              <a:rPr lang="en-IN" sz="1300" dirty="0"/>
              <a:t>📊 </a:t>
            </a:r>
            <a:r>
              <a:rPr lang="en-IN" sz="1300" b="1" dirty="0"/>
              <a:t>R</a:t>
            </a:r>
            <a:br>
              <a:rPr lang="en-IN" sz="1300" dirty="0"/>
            </a:br>
            <a:r>
              <a:rPr lang="en-IN" sz="1300" dirty="0"/>
              <a:t>• </a:t>
            </a:r>
            <a:r>
              <a:rPr lang="en-IN" sz="1300" dirty="0" err="1"/>
              <a:t>rvest</a:t>
            </a:r>
            <a:r>
              <a:rPr lang="en-IN" sz="1300" dirty="0"/>
              <a:t> — Tidy scraping for data analysis</a:t>
            </a:r>
            <a:br>
              <a:rPr lang="en-IN" sz="1300" dirty="0"/>
            </a:br>
            <a:r>
              <a:rPr lang="en-IN" sz="1300" dirty="0"/>
              <a:t>• </a:t>
            </a:r>
            <a:r>
              <a:rPr lang="en-IN" sz="1300" dirty="0" err="1"/>
              <a:t>RSelenium</a:t>
            </a:r>
            <a:r>
              <a:rPr lang="en-IN" sz="1300" dirty="0"/>
              <a:t> — Dynamic site support</a:t>
            </a:r>
          </a:p>
          <a:p>
            <a:pPr>
              <a:buNone/>
            </a:pPr>
            <a:endParaRPr lang="en-IN" sz="1300" dirty="0"/>
          </a:p>
          <a:p>
            <a:pPr>
              <a:buNone/>
            </a:pPr>
            <a:r>
              <a:rPr lang="en-IN" sz="1300" dirty="0"/>
              <a:t>☕ </a:t>
            </a:r>
            <a:r>
              <a:rPr lang="en-IN" sz="1300" b="1" dirty="0"/>
              <a:t>Java</a:t>
            </a:r>
            <a:br>
              <a:rPr lang="en-IN" sz="1300" dirty="0"/>
            </a:br>
            <a:r>
              <a:rPr lang="en-IN" sz="1300" dirty="0"/>
              <a:t>• </a:t>
            </a:r>
            <a:r>
              <a:rPr lang="en-IN" sz="1300" dirty="0" err="1"/>
              <a:t>Jsoup</a:t>
            </a:r>
            <a:r>
              <a:rPr lang="en-IN" sz="1300" dirty="0"/>
              <a:t> — Simple and powerful HTML parser</a:t>
            </a:r>
          </a:p>
          <a:p>
            <a:pPr marL="152400" indent="0">
              <a:buNone/>
            </a:pPr>
            <a:endParaRPr lang="en-IN" sz="1300" dirty="0"/>
          </a:p>
          <a:p>
            <a:pPr marL="152400" indent="0">
              <a:buNone/>
            </a:pPr>
            <a:r>
              <a:rPr lang="en-IN" sz="1300" dirty="0"/>
              <a:t>🧩 </a:t>
            </a:r>
            <a:r>
              <a:rPr lang="en-IN" sz="1300" b="1" dirty="0"/>
              <a:t>Web-Based / No-Code</a:t>
            </a:r>
            <a:br>
              <a:rPr lang="en-IN" sz="1300" dirty="0"/>
            </a:br>
            <a:r>
              <a:rPr lang="en-IN" sz="1300" dirty="0"/>
              <a:t>• </a:t>
            </a:r>
            <a:r>
              <a:rPr lang="en-IN" sz="1300" dirty="0" err="1"/>
              <a:t>Octoparse</a:t>
            </a:r>
            <a:r>
              <a:rPr lang="en-IN" sz="1300" dirty="0"/>
              <a:t> — Drag-and-drop scraper</a:t>
            </a:r>
            <a:br>
              <a:rPr lang="en-IN" sz="1300" dirty="0"/>
            </a:br>
            <a:r>
              <a:rPr lang="en-IN" sz="1300" dirty="0"/>
              <a:t>• </a:t>
            </a:r>
            <a:r>
              <a:rPr lang="en-IN" sz="1300" dirty="0" err="1"/>
              <a:t>ParseHub</a:t>
            </a:r>
            <a:r>
              <a:rPr lang="en-IN" sz="1300" dirty="0"/>
              <a:t> — Visual scraper tool</a:t>
            </a:r>
            <a:br>
              <a:rPr lang="en-IN" sz="1300" dirty="0"/>
            </a:br>
            <a:r>
              <a:rPr lang="en-IN" sz="1300" dirty="0"/>
              <a:t>• </a:t>
            </a:r>
            <a:r>
              <a:rPr lang="en-IN" sz="1300" dirty="0" err="1"/>
              <a:t>Apify</a:t>
            </a:r>
            <a:r>
              <a:rPr lang="en-IN" sz="1300" dirty="0"/>
              <a:t> — Cloud-based scraping platform</a:t>
            </a:r>
          </a:p>
        </p:txBody>
      </p:sp>
      <p:sp>
        <p:nvSpPr>
          <p:cNvPr id="3" name="Title 2">
            <a:extLst>
              <a:ext uri="{FF2B5EF4-FFF2-40B4-BE49-F238E27FC236}">
                <a16:creationId xmlns:a16="http://schemas.microsoft.com/office/drawing/2014/main" id="{07EF660A-A312-54E2-7475-F4C6D4FFFEFE}"/>
              </a:ext>
            </a:extLst>
          </p:cNvPr>
          <p:cNvSpPr>
            <a:spLocks noGrp="1"/>
          </p:cNvSpPr>
          <p:nvPr>
            <p:ph type="title"/>
          </p:nvPr>
        </p:nvSpPr>
        <p:spPr>
          <a:xfrm>
            <a:off x="713250" y="631882"/>
            <a:ext cx="7717500" cy="541500"/>
          </a:xfrm>
        </p:spPr>
        <p:txBody>
          <a:bodyPr/>
          <a:lstStyle/>
          <a:p>
            <a:r>
              <a:rPr lang="en-IN" dirty="0"/>
              <a:t>Choose Your Scraping Style</a:t>
            </a:r>
          </a:p>
        </p:txBody>
      </p:sp>
      <p:pic>
        <p:nvPicPr>
          <p:cNvPr id="14" name="Picture 13" descr="A logo of a cup of coffee&#10;&#10;AI-generated content may be incorrect.">
            <a:extLst>
              <a:ext uri="{FF2B5EF4-FFF2-40B4-BE49-F238E27FC236}">
                <a16:creationId xmlns:a16="http://schemas.microsoft.com/office/drawing/2014/main" id="{9107562D-2ED2-BE05-4FD2-C9E0AB83BA2B}"/>
              </a:ext>
            </a:extLst>
          </p:cNvPr>
          <p:cNvPicPr>
            <a:picLocks noChangeAspect="1"/>
          </p:cNvPicPr>
          <p:nvPr/>
        </p:nvPicPr>
        <p:blipFill>
          <a:blip r:embed="rId2"/>
          <a:stretch>
            <a:fillRect/>
          </a:stretch>
        </p:blipFill>
        <p:spPr>
          <a:xfrm>
            <a:off x="7714343" y="2859348"/>
            <a:ext cx="1219200" cy="1219200"/>
          </a:xfrm>
          <a:prstGeom prst="rect">
            <a:avLst/>
          </a:prstGeom>
        </p:spPr>
      </p:pic>
      <p:pic>
        <p:nvPicPr>
          <p:cNvPr id="16" name="Picture 15" descr="A green and black logo&#10;&#10;AI-generated content may be incorrect.">
            <a:extLst>
              <a:ext uri="{FF2B5EF4-FFF2-40B4-BE49-F238E27FC236}">
                <a16:creationId xmlns:a16="http://schemas.microsoft.com/office/drawing/2014/main" id="{D3A7242C-A609-8C8A-1807-8047FDC55130}"/>
              </a:ext>
            </a:extLst>
          </p:cNvPr>
          <p:cNvPicPr>
            <a:picLocks noChangeAspect="1"/>
          </p:cNvPicPr>
          <p:nvPr/>
        </p:nvPicPr>
        <p:blipFill>
          <a:blip r:embed="rId3"/>
          <a:stretch>
            <a:fillRect/>
          </a:stretch>
        </p:blipFill>
        <p:spPr>
          <a:xfrm>
            <a:off x="376955" y="3336888"/>
            <a:ext cx="672589" cy="672589"/>
          </a:xfrm>
          <a:prstGeom prst="rect">
            <a:avLst/>
          </a:prstGeom>
        </p:spPr>
      </p:pic>
      <p:pic>
        <p:nvPicPr>
          <p:cNvPr id="18" name="Picture 17" descr="A blue and yellow snake&#10;&#10;AI-generated content may be incorrect.">
            <a:extLst>
              <a:ext uri="{FF2B5EF4-FFF2-40B4-BE49-F238E27FC236}">
                <a16:creationId xmlns:a16="http://schemas.microsoft.com/office/drawing/2014/main" id="{34AD50D0-E216-449C-28A7-27A1CEB42AC7}"/>
              </a:ext>
            </a:extLst>
          </p:cNvPr>
          <p:cNvPicPr>
            <a:picLocks noChangeAspect="1"/>
          </p:cNvPicPr>
          <p:nvPr/>
        </p:nvPicPr>
        <p:blipFill>
          <a:blip r:embed="rId4"/>
          <a:stretch>
            <a:fillRect/>
          </a:stretch>
        </p:blipFill>
        <p:spPr>
          <a:xfrm>
            <a:off x="166915" y="486468"/>
            <a:ext cx="914400" cy="914400"/>
          </a:xfrm>
          <a:prstGeom prst="rect">
            <a:avLst/>
          </a:prstGeom>
        </p:spPr>
      </p:pic>
      <p:pic>
        <p:nvPicPr>
          <p:cNvPr id="20" name="Picture 19" descr="A blue and black logo&#10;&#10;AI-generated content may be incorrect.">
            <a:extLst>
              <a:ext uri="{FF2B5EF4-FFF2-40B4-BE49-F238E27FC236}">
                <a16:creationId xmlns:a16="http://schemas.microsoft.com/office/drawing/2014/main" id="{4DC627D1-92A5-0717-0568-21B415D42C5A}"/>
              </a:ext>
            </a:extLst>
          </p:cNvPr>
          <p:cNvPicPr>
            <a:picLocks noChangeAspect="1"/>
          </p:cNvPicPr>
          <p:nvPr/>
        </p:nvPicPr>
        <p:blipFill>
          <a:blip r:embed="rId5"/>
          <a:stretch>
            <a:fillRect/>
          </a:stretch>
        </p:blipFill>
        <p:spPr>
          <a:xfrm>
            <a:off x="7484718" y="887982"/>
            <a:ext cx="798286" cy="798286"/>
          </a:xfrm>
          <a:prstGeom prst="rect">
            <a:avLst/>
          </a:prstGeom>
        </p:spPr>
      </p:pic>
      <p:pic>
        <p:nvPicPr>
          <p:cNvPr id="22" name="Graphic 21">
            <a:extLst>
              <a:ext uri="{FF2B5EF4-FFF2-40B4-BE49-F238E27FC236}">
                <a16:creationId xmlns:a16="http://schemas.microsoft.com/office/drawing/2014/main" id="{2D2E91C0-7E69-330E-79E3-2DBE182FDE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73987" y="2625965"/>
            <a:ext cx="304800" cy="304800"/>
          </a:xfrm>
          <a:prstGeom prst="rect">
            <a:avLst/>
          </a:prstGeom>
        </p:spPr>
      </p:pic>
      <p:pic>
        <p:nvPicPr>
          <p:cNvPr id="24" name="Graphic 23">
            <a:extLst>
              <a:ext uri="{FF2B5EF4-FFF2-40B4-BE49-F238E27FC236}">
                <a16:creationId xmlns:a16="http://schemas.microsoft.com/office/drawing/2014/main" id="{35A763B9-13A0-AE4E-588E-2A6A7F51C79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83387" y="4009477"/>
            <a:ext cx="990599" cy="990599"/>
          </a:xfrm>
          <a:prstGeom prst="rect">
            <a:avLst/>
          </a:prstGeom>
        </p:spPr>
      </p:pic>
      <p:pic>
        <p:nvPicPr>
          <p:cNvPr id="26" name="Graphic 25">
            <a:extLst>
              <a:ext uri="{FF2B5EF4-FFF2-40B4-BE49-F238E27FC236}">
                <a16:creationId xmlns:a16="http://schemas.microsoft.com/office/drawing/2014/main" id="{7A5627E0-D91E-5B71-67EC-945E8C4E18B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305979" y="3851062"/>
            <a:ext cx="593724" cy="593724"/>
          </a:xfrm>
          <a:prstGeom prst="rect">
            <a:avLst/>
          </a:prstGeom>
        </p:spPr>
      </p:pic>
    </p:spTree>
    <p:extLst>
      <p:ext uri="{BB962C8B-B14F-4D97-AF65-F5344CB8AC3E}">
        <p14:creationId xmlns:p14="http://schemas.microsoft.com/office/powerpoint/2010/main" val="4240855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A543F9-D637-046D-5750-B48DB097883C}"/>
              </a:ext>
            </a:extLst>
          </p:cNvPr>
          <p:cNvSpPr>
            <a:spLocks noGrp="1"/>
          </p:cNvSpPr>
          <p:nvPr>
            <p:ph type="title" idx="2"/>
          </p:nvPr>
        </p:nvSpPr>
        <p:spPr>
          <a:xfrm>
            <a:off x="1467593" y="1964850"/>
            <a:ext cx="6092700" cy="1213800"/>
          </a:xfrm>
        </p:spPr>
        <p:txBody>
          <a:bodyPr/>
          <a:lstStyle/>
          <a:p>
            <a:r>
              <a:rPr lang="en-US" dirty="0">
                <a:solidFill>
                  <a:schemeClr val="bg1">
                    <a:lumMod val="10000"/>
                  </a:schemeClr>
                </a:solidFill>
              </a:rPr>
              <a:t>Scrapy</a:t>
            </a:r>
            <a:endParaRPr lang="en-IN" dirty="0"/>
          </a:p>
        </p:txBody>
      </p:sp>
    </p:spTree>
    <p:extLst>
      <p:ext uri="{BB962C8B-B14F-4D97-AF65-F5344CB8AC3E}">
        <p14:creationId xmlns:p14="http://schemas.microsoft.com/office/powerpoint/2010/main" val="1212640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E1A7A8-257E-9A6D-1EC4-787CE4DB49A3}"/>
              </a:ext>
            </a:extLst>
          </p:cNvPr>
          <p:cNvSpPr>
            <a:spLocks noGrp="1"/>
          </p:cNvSpPr>
          <p:nvPr>
            <p:ph type="title"/>
          </p:nvPr>
        </p:nvSpPr>
        <p:spPr/>
        <p:txBody>
          <a:bodyPr/>
          <a:lstStyle/>
          <a:p>
            <a:r>
              <a:rPr lang="en-US" dirty="0"/>
              <a:t>Scrapy</a:t>
            </a:r>
            <a:endParaRPr lang="en-IN" dirty="0"/>
          </a:p>
        </p:txBody>
      </p:sp>
      <p:sp>
        <p:nvSpPr>
          <p:cNvPr id="4" name="Rectangle 1">
            <a:extLst>
              <a:ext uri="{FF2B5EF4-FFF2-40B4-BE49-F238E27FC236}">
                <a16:creationId xmlns:a16="http://schemas.microsoft.com/office/drawing/2014/main" id="{E71EF330-41A2-4933-D3EC-008E451DC34B}"/>
              </a:ext>
            </a:extLst>
          </p:cNvPr>
          <p:cNvSpPr>
            <a:spLocks noGrp="1" noChangeArrowheads="1"/>
          </p:cNvSpPr>
          <p:nvPr>
            <p:ph type="body" idx="1"/>
          </p:nvPr>
        </p:nvSpPr>
        <p:spPr bwMode="auto">
          <a:xfrm>
            <a:off x="713250" y="1212286"/>
            <a:ext cx="7717499"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What is Scrapy?</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Scrapy is a fast and powerful </a:t>
            </a: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Python framework</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for web scraping. It helps extract data from websites </a:t>
            </a: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efficiently and automatically</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Why use Scrapy?</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a:t>
            </a: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Faster</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than manual scraping</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a:t>
            </a: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Handles large websites</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easily</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a:t>
            </a: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Smart crawler</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(follows links automatically)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Where is Scrapy used?</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Price comparison websites</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News aggregation</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AI &amp; ML data collection</a:t>
            </a:r>
          </a:p>
        </p:txBody>
      </p:sp>
    </p:spTree>
    <p:extLst>
      <p:ext uri="{BB962C8B-B14F-4D97-AF65-F5344CB8AC3E}">
        <p14:creationId xmlns:p14="http://schemas.microsoft.com/office/powerpoint/2010/main" val="348405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D4A24A-33B4-F4A4-2F0D-06DF790A59C5}"/>
              </a:ext>
            </a:extLst>
          </p:cNvPr>
          <p:cNvSpPr>
            <a:spLocks noGrp="1"/>
          </p:cNvSpPr>
          <p:nvPr>
            <p:ph type="body" idx="1"/>
          </p:nvPr>
        </p:nvSpPr>
        <p:spPr>
          <a:xfrm>
            <a:off x="713250" y="1152475"/>
            <a:ext cx="7717500" cy="371525"/>
          </a:xfrm>
          <a:ln>
            <a:solidFill>
              <a:schemeClr val="accent2"/>
            </a:solidFill>
          </a:ln>
        </p:spPr>
        <p:txBody>
          <a:bodyPr/>
          <a:lstStyle/>
          <a:p>
            <a:pPr marL="152400" indent="0">
              <a:buNone/>
            </a:pPr>
            <a:r>
              <a:rPr lang="en-US" dirty="0"/>
              <a:t>📌 </a:t>
            </a:r>
            <a:r>
              <a:rPr lang="en-US" b="1" dirty="0"/>
              <a:t>Step 1: Create a Virtual Environment (Recommended)</a:t>
            </a:r>
            <a:endParaRPr lang="en-IN" dirty="0"/>
          </a:p>
        </p:txBody>
      </p:sp>
      <p:sp>
        <p:nvSpPr>
          <p:cNvPr id="3" name="Title 2">
            <a:extLst>
              <a:ext uri="{FF2B5EF4-FFF2-40B4-BE49-F238E27FC236}">
                <a16:creationId xmlns:a16="http://schemas.microsoft.com/office/drawing/2014/main" id="{1A02B97E-8239-08D7-307A-F3353FBBFFED}"/>
              </a:ext>
            </a:extLst>
          </p:cNvPr>
          <p:cNvSpPr>
            <a:spLocks noGrp="1"/>
          </p:cNvSpPr>
          <p:nvPr>
            <p:ph type="title"/>
          </p:nvPr>
        </p:nvSpPr>
        <p:spPr/>
        <p:txBody>
          <a:bodyPr/>
          <a:lstStyle/>
          <a:p>
            <a:r>
              <a:rPr lang="en-IN" dirty="0"/>
              <a:t>Creating Virtual </a:t>
            </a:r>
            <a:r>
              <a:rPr lang="en-IN" dirty="0" err="1"/>
              <a:t>Enviroment</a:t>
            </a:r>
            <a:endParaRPr lang="en-IN" dirty="0"/>
          </a:p>
        </p:txBody>
      </p:sp>
      <p:sp>
        <p:nvSpPr>
          <p:cNvPr id="4" name="Rectangle 3">
            <a:extLst>
              <a:ext uri="{FF2B5EF4-FFF2-40B4-BE49-F238E27FC236}">
                <a16:creationId xmlns:a16="http://schemas.microsoft.com/office/drawing/2014/main" id="{68D79358-65AA-1586-F355-92E4BDE4476B}"/>
              </a:ext>
            </a:extLst>
          </p:cNvPr>
          <p:cNvSpPr/>
          <p:nvPr/>
        </p:nvSpPr>
        <p:spPr>
          <a:xfrm>
            <a:off x="713250" y="1524000"/>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latin typeface="Consolas" panose="020B0609020204030204" pitchFamily="49" charset="0"/>
              </a:rPr>
              <a:t>python -m </a:t>
            </a:r>
            <a:r>
              <a:rPr lang="en-IN" dirty="0" err="1">
                <a:latin typeface="Consolas" panose="020B0609020204030204" pitchFamily="49" charset="0"/>
              </a:rPr>
              <a:t>venv</a:t>
            </a:r>
            <a:r>
              <a:rPr lang="en-IN" dirty="0">
                <a:latin typeface="Consolas" panose="020B0609020204030204" pitchFamily="49" charset="0"/>
              </a:rPr>
              <a:t> </a:t>
            </a:r>
            <a:r>
              <a:rPr lang="en-IN" dirty="0" err="1">
                <a:latin typeface="Consolas" panose="020B0609020204030204" pitchFamily="49" charset="0"/>
              </a:rPr>
              <a:t>scrapy_env</a:t>
            </a:r>
            <a:endParaRPr lang="en-IN" dirty="0">
              <a:latin typeface="Consolas" panose="020B0609020204030204" pitchFamily="49" charset="0"/>
            </a:endParaRPr>
          </a:p>
        </p:txBody>
      </p:sp>
      <p:sp>
        <p:nvSpPr>
          <p:cNvPr id="5" name="Text Placeholder 1">
            <a:extLst>
              <a:ext uri="{FF2B5EF4-FFF2-40B4-BE49-F238E27FC236}">
                <a16:creationId xmlns:a16="http://schemas.microsoft.com/office/drawing/2014/main" id="{CA7A80DD-006B-12DD-306F-97DF403971D0}"/>
              </a:ext>
            </a:extLst>
          </p:cNvPr>
          <p:cNvSpPr txBox="1">
            <a:spLocks/>
          </p:cNvSpPr>
          <p:nvPr/>
        </p:nvSpPr>
        <p:spPr>
          <a:xfrm>
            <a:off x="713250" y="1975352"/>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a:t>Step 2: Activate the Virtual Environment</a:t>
            </a:r>
            <a:endParaRPr lang="en-IN" dirty="0"/>
          </a:p>
        </p:txBody>
      </p:sp>
      <p:sp>
        <p:nvSpPr>
          <p:cNvPr id="6" name="Rectangle 5">
            <a:extLst>
              <a:ext uri="{FF2B5EF4-FFF2-40B4-BE49-F238E27FC236}">
                <a16:creationId xmlns:a16="http://schemas.microsoft.com/office/drawing/2014/main" id="{9B476733-0D18-E7AA-6FE9-4587FBB4F260}"/>
              </a:ext>
            </a:extLst>
          </p:cNvPr>
          <p:cNvSpPr/>
          <p:nvPr/>
        </p:nvSpPr>
        <p:spPr>
          <a:xfrm>
            <a:off x="713250" y="2732524"/>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err="1">
                <a:latin typeface="Consolas" panose="020B0609020204030204" pitchFamily="49" charset="0"/>
              </a:rPr>
              <a:t>scrapy_env</a:t>
            </a:r>
            <a:r>
              <a:rPr lang="en-IN" dirty="0">
                <a:latin typeface="Consolas" panose="020B0609020204030204" pitchFamily="49" charset="0"/>
              </a:rPr>
              <a:t>\Scripts\activate</a:t>
            </a:r>
          </a:p>
        </p:txBody>
      </p:sp>
      <p:sp>
        <p:nvSpPr>
          <p:cNvPr id="7" name="Text Placeholder 1">
            <a:extLst>
              <a:ext uri="{FF2B5EF4-FFF2-40B4-BE49-F238E27FC236}">
                <a16:creationId xmlns:a16="http://schemas.microsoft.com/office/drawing/2014/main" id="{E867ED91-4310-AD7D-0A30-95FCF71E9ED1}"/>
              </a:ext>
            </a:extLst>
          </p:cNvPr>
          <p:cNvSpPr txBox="1">
            <a:spLocks/>
          </p:cNvSpPr>
          <p:nvPr/>
        </p:nvSpPr>
        <p:spPr>
          <a:xfrm>
            <a:off x="720507" y="2353938"/>
            <a:ext cx="7717500" cy="3715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IN" dirty="0"/>
              <a:t>🟢 </a:t>
            </a:r>
            <a:r>
              <a:rPr lang="en-IN" b="1" dirty="0"/>
              <a:t>Windows:</a:t>
            </a:r>
            <a:endParaRPr lang="en-IN" dirty="0"/>
          </a:p>
        </p:txBody>
      </p:sp>
      <p:sp>
        <p:nvSpPr>
          <p:cNvPr id="9" name="Rectangle 8">
            <a:extLst>
              <a:ext uri="{FF2B5EF4-FFF2-40B4-BE49-F238E27FC236}">
                <a16:creationId xmlns:a16="http://schemas.microsoft.com/office/drawing/2014/main" id="{AE2C32E1-9101-895B-C992-118E3B0A2E1E}"/>
              </a:ext>
            </a:extLst>
          </p:cNvPr>
          <p:cNvSpPr/>
          <p:nvPr/>
        </p:nvSpPr>
        <p:spPr>
          <a:xfrm>
            <a:off x="720507" y="3482635"/>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solidFill>
                  <a:srgbClr val="FFC000"/>
                </a:solidFill>
                <a:latin typeface="Consolas" panose="020B0609020204030204" pitchFamily="49" charset="0"/>
              </a:rPr>
              <a:t>source</a:t>
            </a:r>
            <a:r>
              <a:rPr lang="en-IN" dirty="0">
                <a:latin typeface="Consolas" panose="020B0609020204030204" pitchFamily="49" charset="0"/>
              </a:rPr>
              <a:t> </a:t>
            </a:r>
            <a:r>
              <a:rPr lang="en-IN" dirty="0" err="1">
                <a:latin typeface="Consolas" panose="020B0609020204030204" pitchFamily="49" charset="0"/>
              </a:rPr>
              <a:t>scrapy_env</a:t>
            </a:r>
            <a:r>
              <a:rPr lang="en-IN" dirty="0">
                <a:latin typeface="Consolas" panose="020B0609020204030204" pitchFamily="49" charset="0"/>
              </a:rPr>
              <a:t>/bin/activate</a:t>
            </a:r>
          </a:p>
        </p:txBody>
      </p:sp>
      <p:sp>
        <p:nvSpPr>
          <p:cNvPr id="10" name="Text Placeholder 1">
            <a:extLst>
              <a:ext uri="{FF2B5EF4-FFF2-40B4-BE49-F238E27FC236}">
                <a16:creationId xmlns:a16="http://schemas.microsoft.com/office/drawing/2014/main" id="{03232BA1-3559-0375-711A-721EE472ACA2}"/>
              </a:ext>
            </a:extLst>
          </p:cNvPr>
          <p:cNvSpPr txBox="1">
            <a:spLocks/>
          </p:cNvSpPr>
          <p:nvPr/>
        </p:nvSpPr>
        <p:spPr>
          <a:xfrm>
            <a:off x="727764" y="3104049"/>
            <a:ext cx="7717500" cy="3715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IN" dirty="0"/>
              <a:t>🟢 </a:t>
            </a:r>
            <a:r>
              <a:rPr lang="en-IN" b="1" dirty="0"/>
              <a:t>Mac/Linux:</a:t>
            </a:r>
            <a:endParaRPr lang="en-IN" dirty="0"/>
          </a:p>
        </p:txBody>
      </p:sp>
    </p:spTree>
    <p:extLst>
      <p:ext uri="{BB962C8B-B14F-4D97-AF65-F5344CB8AC3E}">
        <p14:creationId xmlns:p14="http://schemas.microsoft.com/office/powerpoint/2010/main" val="2539467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FB477-40E1-D336-030C-630AD215ED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0A372B-AB6E-CAD9-AB2D-4C753F353261}"/>
              </a:ext>
            </a:extLst>
          </p:cNvPr>
          <p:cNvSpPr>
            <a:spLocks noGrp="1"/>
          </p:cNvSpPr>
          <p:nvPr>
            <p:ph type="body" idx="1"/>
          </p:nvPr>
        </p:nvSpPr>
        <p:spPr>
          <a:xfrm>
            <a:off x="713250" y="1152475"/>
            <a:ext cx="7717500" cy="371525"/>
          </a:xfrm>
          <a:ln>
            <a:solidFill>
              <a:schemeClr val="accent2"/>
            </a:solidFill>
          </a:ln>
        </p:spPr>
        <p:txBody>
          <a:bodyPr/>
          <a:lstStyle/>
          <a:p>
            <a:pPr marL="152400" indent="0">
              <a:buFont typeface="Manjari"/>
              <a:buNone/>
            </a:pPr>
            <a:r>
              <a:rPr lang="en-US" dirty="0"/>
              <a:t>📌 </a:t>
            </a:r>
            <a:r>
              <a:rPr lang="en-US" b="1" dirty="0"/>
              <a:t>Checking Installation (Python)</a:t>
            </a:r>
            <a:endParaRPr lang="en-IN" dirty="0"/>
          </a:p>
        </p:txBody>
      </p:sp>
      <p:sp>
        <p:nvSpPr>
          <p:cNvPr id="3" name="Title 2">
            <a:extLst>
              <a:ext uri="{FF2B5EF4-FFF2-40B4-BE49-F238E27FC236}">
                <a16:creationId xmlns:a16="http://schemas.microsoft.com/office/drawing/2014/main" id="{6E092324-1CC6-2416-B83B-4E0D8C71DB53}"/>
              </a:ext>
            </a:extLst>
          </p:cNvPr>
          <p:cNvSpPr>
            <a:spLocks noGrp="1"/>
          </p:cNvSpPr>
          <p:nvPr>
            <p:ph type="title"/>
          </p:nvPr>
        </p:nvSpPr>
        <p:spPr/>
        <p:txBody>
          <a:bodyPr/>
          <a:lstStyle/>
          <a:p>
            <a:r>
              <a:rPr lang="en-IN" dirty="0"/>
              <a:t>Installing Scrapy</a:t>
            </a:r>
          </a:p>
        </p:txBody>
      </p:sp>
      <p:sp>
        <p:nvSpPr>
          <p:cNvPr id="4" name="Rectangle 3">
            <a:extLst>
              <a:ext uri="{FF2B5EF4-FFF2-40B4-BE49-F238E27FC236}">
                <a16:creationId xmlns:a16="http://schemas.microsoft.com/office/drawing/2014/main" id="{F27E3F08-7E03-3FF8-B8D9-8D390B9660A8}"/>
              </a:ext>
            </a:extLst>
          </p:cNvPr>
          <p:cNvSpPr/>
          <p:nvPr/>
        </p:nvSpPr>
        <p:spPr>
          <a:xfrm>
            <a:off x="713250" y="1524000"/>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US" dirty="0">
                <a:latin typeface="Consolas" panose="020B0609020204030204" pitchFamily="49" charset="0"/>
              </a:rPr>
              <a:t>p</a:t>
            </a:r>
            <a:r>
              <a:rPr lang="en-IN" dirty="0" err="1">
                <a:latin typeface="Consolas" panose="020B0609020204030204" pitchFamily="49" charset="0"/>
              </a:rPr>
              <a:t>ython</a:t>
            </a:r>
            <a:r>
              <a:rPr lang="en-IN" dirty="0">
                <a:latin typeface="Consolas" panose="020B0609020204030204" pitchFamily="49" charset="0"/>
              </a:rPr>
              <a:t> --version</a:t>
            </a:r>
          </a:p>
        </p:txBody>
      </p:sp>
      <p:sp>
        <p:nvSpPr>
          <p:cNvPr id="13" name="Text Placeholder 1">
            <a:extLst>
              <a:ext uri="{FF2B5EF4-FFF2-40B4-BE49-F238E27FC236}">
                <a16:creationId xmlns:a16="http://schemas.microsoft.com/office/drawing/2014/main" id="{38133E44-3E9F-72A2-CCBF-F62E270F6DE5}"/>
              </a:ext>
            </a:extLst>
          </p:cNvPr>
          <p:cNvSpPr txBox="1">
            <a:spLocks/>
          </p:cNvSpPr>
          <p:nvPr/>
        </p:nvSpPr>
        <p:spPr>
          <a:xfrm>
            <a:off x="713250" y="2014462"/>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a:t>Checking Installation (PIP)</a:t>
            </a:r>
            <a:endParaRPr lang="en-IN" dirty="0"/>
          </a:p>
        </p:txBody>
      </p:sp>
      <p:sp>
        <p:nvSpPr>
          <p:cNvPr id="14" name="Rectangle 13">
            <a:extLst>
              <a:ext uri="{FF2B5EF4-FFF2-40B4-BE49-F238E27FC236}">
                <a16:creationId xmlns:a16="http://schemas.microsoft.com/office/drawing/2014/main" id="{F0DD0F77-AC0A-61FF-A650-98A62B99F0E2}"/>
              </a:ext>
            </a:extLst>
          </p:cNvPr>
          <p:cNvSpPr/>
          <p:nvPr/>
        </p:nvSpPr>
        <p:spPr>
          <a:xfrm>
            <a:off x="713250" y="2385987"/>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latin typeface="Consolas" panose="020B0609020204030204" pitchFamily="49" charset="0"/>
              </a:rPr>
              <a:t>pip --version</a:t>
            </a:r>
          </a:p>
        </p:txBody>
      </p:sp>
      <p:sp>
        <p:nvSpPr>
          <p:cNvPr id="18" name="Text Placeholder 1">
            <a:extLst>
              <a:ext uri="{FF2B5EF4-FFF2-40B4-BE49-F238E27FC236}">
                <a16:creationId xmlns:a16="http://schemas.microsoft.com/office/drawing/2014/main" id="{A0471E6A-FCE6-C049-426E-CC46D5CDFA57}"/>
              </a:ext>
            </a:extLst>
          </p:cNvPr>
          <p:cNvSpPr txBox="1">
            <a:spLocks/>
          </p:cNvSpPr>
          <p:nvPr/>
        </p:nvSpPr>
        <p:spPr>
          <a:xfrm>
            <a:off x="713250" y="2876451"/>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a:t>Installing Scrapy</a:t>
            </a:r>
            <a:endParaRPr lang="en-IN" dirty="0"/>
          </a:p>
        </p:txBody>
      </p:sp>
      <p:sp>
        <p:nvSpPr>
          <p:cNvPr id="19" name="Rectangle 18">
            <a:extLst>
              <a:ext uri="{FF2B5EF4-FFF2-40B4-BE49-F238E27FC236}">
                <a16:creationId xmlns:a16="http://schemas.microsoft.com/office/drawing/2014/main" id="{3774C74C-230E-F85A-D0E7-A120A507CB23}"/>
              </a:ext>
            </a:extLst>
          </p:cNvPr>
          <p:cNvSpPr/>
          <p:nvPr/>
        </p:nvSpPr>
        <p:spPr>
          <a:xfrm>
            <a:off x="713250" y="3247976"/>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latin typeface="Consolas" panose="020B0609020204030204" pitchFamily="49" charset="0"/>
              </a:rPr>
              <a:t>pip install scrapy</a:t>
            </a:r>
          </a:p>
        </p:txBody>
      </p:sp>
      <p:sp>
        <p:nvSpPr>
          <p:cNvPr id="20" name="Text Placeholder 1">
            <a:extLst>
              <a:ext uri="{FF2B5EF4-FFF2-40B4-BE49-F238E27FC236}">
                <a16:creationId xmlns:a16="http://schemas.microsoft.com/office/drawing/2014/main" id="{CA5684A7-79DA-3263-A466-6BD695808FE7}"/>
              </a:ext>
            </a:extLst>
          </p:cNvPr>
          <p:cNvSpPr txBox="1">
            <a:spLocks/>
          </p:cNvSpPr>
          <p:nvPr/>
        </p:nvSpPr>
        <p:spPr>
          <a:xfrm>
            <a:off x="713250" y="3761823"/>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a:t>Checking Installation (Scrapy)</a:t>
            </a:r>
            <a:endParaRPr lang="en-IN" dirty="0"/>
          </a:p>
        </p:txBody>
      </p:sp>
      <p:sp>
        <p:nvSpPr>
          <p:cNvPr id="21" name="Rectangle 20">
            <a:extLst>
              <a:ext uri="{FF2B5EF4-FFF2-40B4-BE49-F238E27FC236}">
                <a16:creationId xmlns:a16="http://schemas.microsoft.com/office/drawing/2014/main" id="{48B0F2A0-16C3-0B92-3D2C-04FC94DEAC7F}"/>
              </a:ext>
            </a:extLst>
          </p:cNvPr>
          <p:cNvSpPr/>
          <p:nvPr/>
        </p:nvSpPr>
        <p:spPr>
          <a:xfrm>
            <a:off x="713250" y="4133348"/>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latin typeface="Consolas" panose="020B0609020204030204" pitchFamily="49" charset="0"/>
              </a:rPr>
              <a:t>scrapy version</a:t>
            </a:r>
          </a:p>
        </p:txBody>
      </p:sp>
    </p:spTree>
    <p:extLst>
      <p:ext uri="{BB962C8B-B14F-4D97-AF65-F5344CB8AC3E}">
        <p14:creationId xmlns:p14="http://schemas.microsoft.com/office/powerpoint/2010/main" val="2434379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2F947-6CB0-0DC7-8551-01669B0B41D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81B70-72BC-29D3-FA23-EF7B44795EED}"/>
              </a:ext>
            </a:extLst>
          </p:cNvPr>
          <p:cNvSpPr>
            <a:spLocks noGrp="1"/>
          </p:cNvSpPr>
          <p:nvPr>
            <p:ph type="title"/>
          </p:nvPr>
        </p:nvSpPr>
        <p:spPr>
          <a:xfrm>
            <a:off x="713250" y="370556"/>
            <a:ext cx="7717500" cy="541500"/>
          </a:xfrm>
        </p:spPr>
        <p:txBody>
          <a:bodyPr/>
          <a:lstStyle/>
          <a:p>
            <a:r>
              <a:rPr lang="en-IN" dirty="0"/>
              <a:t>Starting Scrapy Project</a:t>
            </a:r>
          </a:p>
        </p:txBody>
      </p:sp>
      <p:sp>
        <p:nvSpPr>
          <p:cNvPr id="18" name="Text Placeholder 1">
            <a:extLst>
              <a:ext uri="{FF2B5EF4-FFF2-40B4-BE49-F238E27FC236}">
                <a16:creationId xmlns:a16="http://schemas.microsoft.com/office/drawing/2014/main" id="{E2548F02-BA26-52D6-CFA8-D1B7D3D80810}"/>
              </a:ext>
            </a:extLst>
          </p:cNvPr>
          <p:cNvSpPr txBox="1">
            <a:spLocks/>
          </p:cNvSpPr>
          <p:nvPr/>
        </p:nvSpPr>
        <p:spPr>
          <a:xfrm>
            <a:off x="713250" y="1019554"/>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a:t>Step 1: Create a New Scrapy Project</a:t>
            </a:r>
            <a:endParaRPr lang="en-IN" dirty="0"/>
          </a:p>
        </p:txBody>
      </p:sp>
      <p:sp>
        <p:nvSpPr>
          <p:cNvPr id="19" name="Rectangle 18">
            <a:extLst>
              <a:ext uri="{FF2B5EF4-FFF2-40B4-BE49-F238E27FC236}">
                <a16:creationId xmlns:a16="http://schemas.microsoft.com/office/drawing/2014/main" id="{531EF570-E289-CC36-1746-6B819C0B0115}"/>
              </a:ext>
            </a:extLst>
          </p:cNvPr>
          <p:cNvSpPr/>
          <p:nvPr/>
        </p:nvSpPr>
        <p:spPr>
          <a:xfrm>
            <a:off x="713250" y="1391079"/>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latin typeface="Consolas" panose="020B0609020204030204" pitchFamily="49" charset="0"/>
              </a:rPr>
              <a:t>scrapy </a:t>
            </a:r>
            <a:r>
              <a:rPr lang="en-IN" dirty="0" err="1">
                <a:latin typeface="Consolas" panose="020B0609020204030204" pitchFamily="49" charset="0"/>
              </a:rPr>
              <a:t>startproject</a:t>
            </a:r>
            <a:r>
              <a:rPr lang="en-IN" dirty="0">
                <a:latin typeface="Consolas" panose="020B0609020204030204" pitchFamily="49" charset="0"/>
              </a:rPr>
              <a:t> </a:t>
            </a:r>
            <a:r>
              <a:rPr lang="en-IN" dirty="0" err="1">
                <a:latin typeface="Consolas" panose="020B0609020204030204" pitchFamily="49" charset="0"/>
              </a:rPr>
              <a:t>quotes_scraper</a:t>
            </a:r>
            <a:endParaRPr lang="en-IN" dirty="0">
              <a:latin typeface="Consolas" panose="020B0609020204030204" pitchFamily="49" charset="0"/>
            </a:endParaRPr>
          </a:p>
        </p:txBody>
      </p:sp>
      <p:sp>
        <p:nvSpPr>
          <p:cNvPr id="20" name="Text Placeholder 1">
            <a:extLst>
              <a:ext uri="{FF2B5EF4-FFF2-40B4-BE49-F238E27FC236}">
                <a16:creationId xmlns:a16="http://schemas.microsoft.com/office/drawing/2014/main" id="{CAC137C3-1024-0836-B8A8-1A2B10B05ACE}"/>
              </a:ext>
            </a:extLst>
          </p:cNvPr>
          <p:cNvSpPr txBox="1">
            <a:spLocks/>
          </p:cNvSpPr>
          <p:nvPr/>
        </p:nvSpPr>
        <p:spPr>
          <a:xfrm>
            <a:off x="713250" y="1904926"/>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a:t>Step 2: Move Inside the Project Directory</a:t>
            </a:r>
            <a:endParaRPr lang="en-IN" dirty="0"/>
          </a:p>
        </p:txBody>
      </p:sp>
      <p:sp>
        <p:nvSpPr>
          <p:cNvPr id="21" name="Rectangle 20">
            <a:extLst>
              <a:ext uri="{FF2B5EF4-FFF2-40B4-BE49-F238E27FC236}">
                <a16:creationId xmlns:a16="http://schemas.microsoft.com/office/drawing/2014/main" id="{10338FC4-C938-4369-44E2-A58393D68217}"/>
              </a:ext>
            </a:extLst>
          </p:cNvPr>
          <p:cNvSpPr/>
          <p:nvPr/>
        </p:nvSpPr>
        <p:spPr>
          <a:xfrm>
            <a:off x="713250" y="2276451"/>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solidFill>
                  <a:srgbClr val="FFC000"/>
                </a:solidFill>
                <a:latin typeface="Consolas" panose="020B0609020204030204" pitchFamily="49" charset="0"/>
              </a:rPr>
              <a:t>cd</a:t>
            </a:r>
            <a:r>
              <a:rPr lang="en-IN" dirty="0">
                <a:latin typeface="Consolas" panose="020B0609020204030204" pitchFamily="49" charset="0"/>
              </a:rPr>
              <a:t> </a:t>
            </a:r>
            <a:r>
              <a:rPr lang="en-IN" dirty="0" err="1">
                <a:latin typeface="Consolas" panose="020B0609020204030204" pitchFamily="49" charset="0"/>
              </a:rPr>
              <a:t>my_scraper</a:t>
            </a:r>
            <a:endParaRPr lang="en-IN" dirty="0">
              <a:latin typeface="Consolas" panose="020B0609020204030204" pitchFamily="49" charset="0"/>
            </a:endParaRPr>
          </a:p>
        </p:txBody>
      </p:sp>
      <p:sp>
        <p:nvSpPr>
          <p:cNvPr id="17" name="Rectangle 16">
            <a:extLst>
              <a:ext uri="{FF2B5EF4-FFF2-40B4-BE49-F238E27FC236}">
                <a16:creationId xmlns:a16="http://schemas.microsoft.com/office/drawing/2014/main" id="{4C7D41CA-851A-2BAC-DF48-62CD56BC9A5F}"/>
              </a:ext>
            </a:extLst>
          </p:cNvPr>
          <p:cNvSpPr/>
          <p:nvPr/>
        </p:nvSpPr>
        <p:spPr>
          <a:xfrm>
            <a:off x="720507" y="3533051"/>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err="1">
                <a:solidFill>
                  <a:srgbClr val="FFC000"/>
                </a:solidFill>
                <a:latin typeface="Consolas" panose="020B0609020204030204" pitchFamily="49" charset="0"/>
              </a:rPr>
              <a:t>dir</a:t>
            </a:r>
            <a:r>
              <a:rPr lang="en-IN" dirty="0">
                <a:latin typeface="Consolas" panose="020B0609020204030204" pitchFamily="49" charset="0"/>
              </a:rPr>
              <a:t> </a:t>
            </a:r>
            <a:r>
              <a:rPr lang="en-IN" dirty="0" err="1">
                <a:latin typeface="Consolas" panose="020B0609020204030204" pitchFamily="49" charset="0"/>
              </a:rPr>
              <a:t>my_scraper</a:t>
            </a:r>
            <a:endParaRPr lang="en-IN" dirty="0">
              <a:latin typeface="Consolas" panose="020B0609020204030204" pitchFamily="49" charset="0"/>
            </a:endParaRPr>
          </a:p>
        </p:txBody>
      </p:sp>
      <p:sp>
        <p:nvSpPr>
          <p:cNvPr id="22" name="Text Placeholder 1">
            <a:extLst>
              <a:ext uri="{FF2B5EF4-FFF2-40B4-BE49-F238E27FC236}">
                <a16:creationId xmlns:a16="http://schemas.microsoft.com/office/drawing/2014/main" id="{3069B402-9844-E663-02BE-CA2989354D12}"/>
              </a:ext>
            </a:extLst>
          </p:cNvPr>
          <p:cNvSpPr txBox="1">
            <a:spLocks/>
          </p:cNvSpPr>
          <p:nvPr/>
        </p:nvSpPr>
        <p:spPr>
          <a:xfrm>
            <a:off x="727764" y="3154465"/>
            <a:ext cx="7717500" cy="3715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IN" dirty="0"/>
              <a:t>🟢 </a:t>
            </a:r>
            <a:r>
              <a:rPr lang="en-IN" b="1" dirty="0"/>
              <a:t>Windows:</a:t>
            </a:r>
            <a:endParaRPr lang="en-IN" dirty="0"/>
          </a:p>
        </p:txBody>
      </p:sp>
      <p:sp>
        <p:nvSpPr>
          <p:cNvPr id="23" name="Rectangle 22">
            <a:extLst>
              <a:ext uri="{FF2B5EF4-FFF2-40B4-BE49-F238E27FC236}">
                <a16:creationId xmlns:a16="http://schemas.microsoft.com/office/drawing/2014/main" id="{ED3C40CF-075B-BC99-C465-B69F99A90950}"/>
              </a:ext>
            </a:extLst>
          </p:cNvPr>
          <p:cNvSpPr/>
          <p:nvPr/>
        </p:nvSpPr>
        <p:spPr>
          <a:xfrm>
            <a:off x="727764" y="4283162"/>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solidFill>
                  <a:srgbClr val="FFC000"/>
                </a:solidFill>
                <a:latin typeface="Consolas" panose="020B0609020204030204" pitchFamily="49" charset="0"/>
              </a:rPr>
              <a:t>tree </a:t>
            </a:r>
            <a:r>
              <a:rPr lang="en-IN" dirty="0" err="1">
                <a:solidFill>
                  <a:schemeClr val="tx1"/>
                </a:solidFill>
                <a:latin typeface="Consolas" panose="020B0609020204030204" pitchFamily="49" charset="0"/>
              </a:rPr>
              <a:t>my_scraper</a:t>
            </a:r>
            <a:r>
              <a:rPr lang="en-IN" dirty="0">
                <a:solidFill>
                  <a:schemeClr val="tx1"/>
                </a:solidFill>
                <a:latin typeface="Consolas" panose="020B0609020204030204" pitchFamily="49" charset="0"/>
              </a:rPr>
              <a:t> </a:t>
            </a:r>
          </a:p>
        </p:txBody>
      </p:sp>
      <p:sp>
        <p:nvSpPr>
          <p:cNvPr id="24" name="Text Placeholder 1">
            <a:extLst>
              <a:ext uri="{FF2B5EF4-FFF2-40B4-BE49-F238E27FC236}">
                <a16:creationId xmlns:a16="http://schemas.microsoft.com/office/drawing/2014/main" id="{AAC611A8-9673-156D-965D-AF8AB49673E2}"/>
              </a:ext>
            </a:extLst>
          </p:cNvPr>
          <p:cNvSpPr txBox="1">
            <a:spLocks/>
          </p:cNvSpPr>
          <p:nvPr/>
        </p:nvSpPr>
        <p:spPr>
          <a:xfrm>
            <a:off x="735021" y="3904576"/>
            <a:ext cx="7717500" cy="3715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IN" dirty="0"/>
              <a:t>🟢 </a:t>
            </a:r>
            <a:r>
              <a:rPr lang="en-IN" b="1" dirty="0"/>
              <a:t>Mac/Linux:</a:t>
            </a:r>
            <a:endParaRPr lang="en-IN" dirty="0"/>
          </a:p>
        </p:txBody>
      </p:sp>
      <p:sp>
        <p:nvSpPr>
          <p:cNvPr id="25" name="Text Placeholder 1">
            <a:extLst>
              <a:ext uri="{FF2B5EF4-FFF2-40B4-BE49-F238E27FC236}">
                <a16:creationId xmlns:a16="http://schemas.microsoft.com/office/drawing/2014/main" id="{12DBE05F-45D6-E7DB-EDA9-B7F994C00902}"/>
              </a:ext>
            </a:extLst>
          </p:cNvPr>
          <p:cNvSpPr txBox="1">
            <a:spLocks/>
          </p:cNvSpPr>
          <p:nvPr/>
        </p:nvSpPr>
        <p:spPr>
          <a:xfrm>
            <a:off x="713250" y="2777108"/>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a:t>Step 3: Check the Project Structure</a:t>
            </a:r>
            <a:endParaRPr lang="en-IN" dirty="0"/>
          </a:p>
        </p:txBody>
      </p:sp>
    </p:spTree>
    <p:extLst>
      <p:ext uri="{BB962C8B-B14F-4D97-AF65-F5344CB8AC3E}">
        <p14:creationId xmlns:p14="http://schemas.microsoft.com/office/powerpoint/2010/main" val="2866946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00C41C-2CF5-21F4-FC5B-592A2885EB28}"/>
              </a:ext>
            </a:extLst>
          </p:cNvPr>
          <p:cNvSpPr>
            <a:spLocks noGrp="1"/>
          </p:cNvSpPr>
          <p:nvPr>
            <p:ph type="body" idx="1"/>
          </p:nvPr>
        </p:nvSpPr>
        <p:spPr>
          <a:xfrm>
            <a:off x="3227846" y="1079073"/>
            <a:ext cx="5398993" cy="2887699"/>
          </a:xfrm>
        </p:spPr>
        <p:txBody>
          <a:bodyPr/>
          <a:lstStyle/>
          <a:p>
            <a:pPr marL="0" indent="0">
              <a:buNone/>
            </a:pPr>
            <a:r>
              <a:rPr lang="en-IN" sz="1400" dirty="0"/>
              <a:t>📂 </a:t>
            </a:r>
            <a:r>
              <a:rPr lang="en-IN" sz="1400" b="1" dirty="0" err="1"/>
              <a:t>my_scraper</a:t>
            </a:r>
            <a:r>
              <a:rPr lang="en-IN" sz="1400" b="1" dirty="0"/>
              <a:t>/</a:t>
            </a:r>
            <a:br>
              <a:rPr lang="en-IN" sz="1400" dirty="0"/>
            </a:br>
            <a:r>
              <a:rPr lang="en-IN" sz="1400" dirty="0"/>
              <a:t>│── 📄 </a:t>
            </a:r>
            <a:r>
              <a:rPr lang="en-IN" sz="1400" b="1" dirty="0" err="1"/>
              <a:t>scrapy.cfg</a:t>
            </a:r>
            <a:r>
              <a:rPr lang="en-IN" sz="1400" dirty="0"/>
              <a:t> (</a:t>
            </a:r>
            <a:r>
              <a:rPr lang="en-IN" sz="1400" i="1" dirty="0"/>
              <a:t>Project settings file</a:t>
            </a:r>
            <a:r>
              <a:rPr lang="en-IN" sz="1400" dirty="0"/>
              <a:t>)</a:t>
            </a:r>
            <a:br>
              <a:rPr lang="en-IN" sz="1400" dirty="0"/>
            </a:br>
            <a:r>
              <a:rPr lang="en-IN" sz="1400" dirty="0"/>
              <a:t>│</a:t>
            </a:r>
            <a:br>
              <a:rPr lang="en-IN" sz="1400" dirty="0"/>
            </a:br>
            <a:r>
              <a:rPr lang="en-IN" sz="1400" dirty="0"/>
              <a:t>├── 📂 </a:t>
            </a:r>
            <a:r>
              <a:rPr lang="en-IN" sz="1400" b="1" dirty="0" err="1"/>
              <a:t>my_scraper</a:t>
            </a:r>
            <a:r>
              <a:rPr lang="en-IN" sz="1400" b="1" dirty="0"/>
              <a:t>/</a:t>
            </a:r>
            <a:r>
              <a:rPr lang="en-IN" sz="1400" dirty="0"/>
              <a:t> (</a:t>
            </a:r>
            <a:r>
              <a:rPr lang="en-IN" sz="1400" i="1" dirty="0"/>
              <a:t>Main module</a:t>
            </a:r>
            <a:r>
              <a:rPr lang="en-IN" sz="1400" dirty="0"/>
              <a:t>)</a:t>
            </a:r>
            <a:br>
              <a:rPr lang="en-IN" sz="1400" dirty="0"/>
            </a:br>
            <a:r>
              <a:rPr lang="en-IN" sz="1400" dirty="0"/>
              <a:t>│ │── 📄 </a:t>
            </a:r>
            <a:r>
              <a:rPr lang="en-IN" sz="1400" b="1" dirty="0"/>
              <a:t>__init__.py</a:t>
            </a:r>
            <a:r>
              <a:rPr lang="en-IN" sz="1400" dirty="0"/>
              <a:t> (</a:t>
            </a:r>
            <a:r>
              <a:rPr lang="en-IN" sz="1400" i="1" dirty="0"/>
              <a:t>Marks this as a package</a:t>
            </a:r>
            <a:r>
              <a:rPr lang="en-IN" sz="1400" dirty="0"/>
              <a:t>)</a:t>
            </a:r>
            <a:br>
              <a:rPr lang="en-IN" sz="1400" dirty="0"/>
            </a:br>
            <a:r>
              <a:rPr lang="en-IN" sz="1400" dirty="0"/>
              <a:t>│ │── 📄 </a:t>
            </a:r>
            <a:r>
              <a:rPr lang="en-IN" sz="1400" b="1" dirty="0"/>
              <a:t>items.py</a:t>
            </a:r>
            <a:r>
              <a:rPr lang="en-IN" sz="1400" dirty="0"/>
              <a:t> (</a:t>
            </a:r>
            <a:r>
              <a:rPr lang="en-IN" sz="1400" i="1" dirty="0"/>
              <a:t>Defines data structure</a:t>
            </a:r>
            <a:r>
              <a:rPr lang="en-IN" sz="1400" dirty="0"/>
              <a:t>)</a:t>
            </a:r>
            <a:br>
              <a:rPr lang="en-IN" sz="1400" dirty="0"/>
            </a:br>
            <a:r>
              <a:rPr lang="en-IN" sz="1400" dirty="0"/>
              <a:t>│ │── 📄 </a:t>
            </a:r>
            <a:r>
              <a:rPr lang="en-IN" sz="1400" b="1" dirty="0"/>
              <a:t>middlewares.py</a:t>
            </a:r>
            <a:r>
              <a:rPr lang="en-IN" sz="1400" dirty="0"/>
              <a:t> (</a:t>
            </a:r>
            <a:r>
              <a:rPr lang="en-IN" sz="1400" i="1" dirty="0"/>
              <a:t>Custom </a:t>
            </a:r>
            <a:r>
              <a:rPr lang="en-IN" sz="1400" i="1" dirty="0" err="1"/>
              <a:t>middlewares</a:t>
            </a:r>
            <a:r>
              <a:rPr lang="en-IN" sz="1400" i="1" dirty="0"/>
              <a:t> for requests</a:t>
            </a:r>
            <a:r>
              <a:rPr lang="en-IN" sz="1400" dirty="0"/>
              <a:t>)</a:t>
            </a:r>
            <a:br>
              <a:rPr lang="en-IN" sz="1400" dirty="0"/>
            </a:br>
            <a:r>
              <a:rPr lang="en-IN" sz="1400" dirty="0"/>
              <a:t>│ │── 📄 </a:t>
            </a:r>
            <a:r>
              <a:rPr lang="en-IN" sz="1400" b="1" dirty="0"/>
              <a:t>pipelines.py</a:t>
            </a:r>
            <a:r>
              <a:rPr lang="en-IN" sz="1400" dirty="0"/>
              <a:t> (</a:t>
            </a:r>
            <a:r>
              <a:rPr lang="en-IN" sz="1400" i="1" dirty="0"/>
              <a:t>Processes scraped data</a:t>
            </a:r>
            <a:r>
              <a:rPr lang="en-IN" sz="1400" dirty="0"/>
              <a:t>)</a:t>
            </a:r>
            <a:br>
              <a:rPr lang="en-IN" sz="1400" dirty="0"/>
            </a:br>
            <a:r>
              <a:rPr lang="en-IN" sz="1400" dirty="0"/>
              <a:t>│ │── 📄 </a:t>
            </a:r>
            <a:r>
              <a:rPr lang="en-IN" sz="1400" b="1" dirty="0"/>
              <a:t>settings.py</a:t>
            </a:r>
            <a:r>
              <a:rPr lang="en-IN" sz="1400" dirty="0"/>
              <a:t> (</a:t>
            </a:r>
            <a:r>
              <a:rPr lang="en-IN" sz="1400" i="1" dirty="0"/>
              <a:t>Project-wide configurations</a:t>
            </a:r>
            <a:r>
              <a:rPr lang="en-IN" sz="1400" dirty="0"/>
              <a:t>)</a:t>
            </a:r>
            <a:br>
              <a:rPr lang="en-IN" sz="1400" dirty="0"/>
            </a:br>
            <a:r>
              <a:rPr lang="en-IN" sz="1400" dirty="0"/>
              <a:t>│</a:t>
            </a:r>
            <a:br>
              <a:rPr lang="en-IN" sz="1400" dirty="0"/>
            </a:br>
            <a:r>
              <a:rPr lang="en-IN" sz="1400" dirty="0"/>
              <a:t>├── 📂 </a:t>
            </a:r>
            <a:r>
              <a:rPr lang="en-IN" sz="1400" b="1" dirty="0"/>
              <a:t>spiders/</a:t>
            </a:r>
            <a:r>
              <a:rPr lang="en-IN" sz="1400" dirty="0"/>
              <a:t> (</a:t>
            </a:r>
            <a:r>
              <a:rPr lang="en-IN" sz="1400" i="1" dirty="0"/>
              <a:t>Contains the actual web crawlers</a:t>
            </a:r>
            <a:r>
              <a:rPr lang="en-IN" sz="1400" dirty="0"/>
              <a:t>)</a:t>
            </a:r>
            <a:br>
              <a:rPr lang="en-IN" sz="1400" dirty="0"/>
            </a:br>
            <a:r>
              <a:rPr lang="en-IN" sz="1400" dirty="0"/>
              <a:t>│ │── 📄 </a:t>
            </a:r>
            <a:r>
              <a:rPr lang="en-IN" sz="1400" b="1" dirty="0"/>
              <a:t>__init__.py</a:t>
            </a:r>
            <a:r>
              <a:rPr lang="en-IN" sz="1400" dirty="0"/>
              <a:t> (</a:t>
            </a:r>
            <a:r>
              <a:rPr lang="en-IN" sz="1400" i="1" dirty="0"/>
              <a:t>Marks this as a package</a:t>
            </a:r>
            <a:r>
              <a:rPr lang="en-IN" sz="1400" dirty="0"/>
              <a:t>)</a:t>
            </a:r>
            <a:br>
              <a:rPr lang="en-IN" sz="1400" dirty="0"/>
            </a:br>
            <a:r>
              <a:rPr lang="en-IN" sz="1400" dirty="0"/>
              <a:t>│ │── 📄 </a:t>
            </a:r>
            <a:r>
              <a:rPr lang="en-IN" sz="1400" b="1" dirty="0"/>
              <a:t>example_spider.py</a:t>
            </a:r>
            <a:r>
              <a:rPr lang="en-IN" sz="1400" dirty="0"/>
              <a:t> (</a:t>
            </a:r>
            <a:r>
              <a:rPr lang="en-IN" sz="1400" i="1" dirty="0"/>
              <a:t>Your first spider!</a:t>
            </a:r>
            <a:r>
              <a:rPr lang="en-IN" sz="1400" dirty="0"/>
              <a:t>)</a:t>
            </a:r>
          </a:p>
        </p:txBody>
      </p:sp>
      <p:sp>
        <p:nvSpPr>
          <p:cNvPr id="3" name="Title 2">
            <a:extLst>
              <a:ext uri="{FF2B5EF4-FFF2-40B4-BE49-F238E27FC236}">
                <a16:creationId xmlns:a16="http://schemas.microsoft.com/office/drawing/2014/main" id="{035AEBB8-2882-980D-936D-A40B30E2D84E}"/>
              </a:ext>
            </a:extLst>
          </p:cNvPr>
          <p:cNvSpPr>
            <a:spLocks noGrp="1"/>
          </p:cNvSpPr>
          <p:nvPr>
            <p:ph type="title"/>
          </p:nvPr>
        </p:nvSpPr>
        <p:spPr/>
        <p:txBody>
          <a:bodyPr/>
          <a:lstStyle/>
          <a:p>
            <a:r>
              <a:rPr lang="en-US" dirty="0"/>
              <a:t>Folder Structure</a:t>
            </a:r>
            <a:endParaRPr lang="en-IN" dirty="0"/>
          </a:p>
        </p:txBody>
      </p:sp>
      <p:pic>
        <p:nvPicPr>
          <p:cNvPr id="5" name="Picture 4">
            <a:extLst>
              <a:ext uri="{FF2B5EF4-FFF2-40B4-BE49-F238E27FC236}">
                <a16:creationId xmlns:a16="http://schemas.microsoft.com/office/drawing/2014/main" id="{092CF80A-F06F-39C1-D64F-CA3B49751F9D}"/>
              </a:ext>
            </a:extLst>
          </p:cNvPr>
          <p:cNvPicPr>
            <a:picLocks noChangeAspect="1"/>
          </p:cNvPicPr>
          <p:nvPr/>
        </p:nvPicPr>
        <p:blipFill>
          <a:blip r:embed="rId2"/>
          <a:stretch>
            <a:fillRect/>
          </a:stretch>
        </p:blipFill>
        <p:spPr>
          <a:xfrm>
            <a:off x="573315" y="1180638"/>
            <a:ext cx="2654531" cy="2887699"/>
          </a:xfrm>
          <a:prstGeom prst="rect">
            <a:avLst/>
          </a:prstGeom>
        </p:spPr>
      </p:pic>
    </p:spTree>
    <p:extLst>
      <p:ext uri="{BB962C8B-B14F-4D97-AF65-F5344CB8AC3E}">
        <p14:creationId xmlns:p14="http://schemas.microsoft.com/office/powerpoint/2010/main" val="323097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iagram">
            <a:extLst>
              <a:ext uri="{FF2B5EF4-FFF2-40B4-BE49-F238E27FC236}">
                <a16:creationId xmlns:a16="http://schemas.microsoft.com/office/drawing/2014/main" id="{D7E42136-50B8-2630-EC1E-DA60BAC32288}"/>
              </a:ext>
            </a:extLst>
          </p:cNvPr>
          <p:cNvPicPr>
            <a:picLocks noChangeAspect="1"/>
          </p:cNvPicPr>
          <p:nvPr/>
        </p:nvPicPr>
        <p:blipFill>
          <a:blip r:embed="rId2"/>
          <a:stretch>
            <a:fillRect/>
          </a:stretch>
        </p:blipFill>
        <p:spPr>
          <a:xfrm>
            <a:off x="-547613" y="793775"/>
            <a:ext cx="10239226" cy="4551700"/>
          </a:xfrm>
          <a:prstGeom prst="rect">
            <a:avLst/>
          </a:prstGeom>
        </p:spPr>
      </p:pic>
      <p:sp>
        <p:nvSpPr>
          <p:cNvPr id="5" name="Title 2">
            <a:extLst>
              <a:ext uri="{FF2B5EF4-FFF2-40B4-BE49-F238E27FC236}">
                <a16:creationId xmlns:a16="http://schemas.microsoft.com/office/drawing/2014/main" id="{AAB20597-EAF7-E239-EAA5-44910475E2FD}"/>
              </a:ext>
            </a:extLst>
          </p:cNvPr>
          <p:cNvSpPr>
            <a:spLocks noGrp="1"/>
          </p:cNvSpPr>
          <p:nvPr>
            <p:ph type="title"/>
          </p:nvPr>
        </p:nvSpPr>
        <p:spPr>
          <a:xfrm>
            <a:off x="713250" y="793775"/>
            <a:ext cx="7717500" cy="541500"/>
          </a:xfrm>
        </p:spPr>
        <p:txBody>
          <a:bodyPr/>
          <a:lstStyle/>
          <a:p>
            <a:r>
              <a:rPr lang="en-US" sz="3600" dirty="0">
                <a:highlight>
                  <a:srgbClr val="C0C0C0"/>
                </a:highlight>
              </a:rPr>
              <a:t>Scrapy Workflow</a:t>
            </a:r>
            <a:endParaRPr lang="en-IN" sz="3600" dirty="0">
              <a:highlight>
                <a:srgbClr val="C0C0C0"/>
              </a:highlight>
            </a:endParaRPr>
          </a:p>
        </p:txBody>
      </p:sp>
    </p:spTree>
    <p:extLst>
      <p:ext uri="{BB962C8B-B14F-4D97-AF65-F5344CB8AC3E}">
        <p14:creationId xmlns:p14="http://schemas.microsoft.com/office/powerpoint/2010/main" val="4039151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BE09-9E60-0677-C79C-977959597C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14C29E-BCE9-C703-05FB-CF94FB0C17CD}"/>
              </a:ext>
            </a:extLst>
          </p:cNvPr>
          <p:cNvSpPr>
            <a:spLocks noGrp="1"/>
          </p:cNvSpPr>
          <p:nvPr>
            <p:ph type="title" idx="2"/>
          </p:nvPr>
        </p:nvSpPr>
        <p:spPr>
          <a:xfrm>
            <a:off x="1467593" y="1964850"/>
            <a:ext cx="6092700" cy="1213800"/>
          </a:xfrm>
        </p:spPr>
        <p:txBody>
          <a:bodyPr/>
          <a:lstStyle/>
          <a:p>
            <a:r>
              <a:rPr lang="en-US" dirty="0">
                <a:solidFill>
                  <a:schemeClr val="bg1">
                    <a:lumMod val="10000"/>
                  </a:schemeClr>
                </a:solidFill>
              </a:rPr>
              <a:t>Spiders</a:t>
            </a:r>
            <a:endParaRPr lang="en-IN" dirty="0"/>
          </a:p>
        </p:txBody>
      </p:sp>
    </p:spTree>
    <p:extLst>
      <p:ext uri="{BB962C8B-B14F-4D97-AF65-F5344CB8AC3E}">
        <p14:creationId xmlns:p14="http://schemas.microsoft.com/office/powerpoint/2010/main" val="2785457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BA7239A-B865-6728-2496-769222A01092}"/>
              </a:ext>
            </a:extLst>
          </p:cNvPr>
          <p:cNvSpPr>
            <a:spLocks noGrp="1"/>
          </p:cNvSpPr>
          <p:nvPr>
            <p:ph type="body" idx="1"/>
          </p:nvPr>
        </p:nvSpPr>
        <p:spPr>
          <a:xfrm>
            <a:off x="713250" y="1254334"/>
            <a:ext cx="7717500" cy="447668"/>
          </a:xfrm>
        </p:spPr>
        <p:txBody>
          <a:bodyPr/>
          <a:lstStyle/>
          <a:p>
            <a:pPr>
              <a:buNone/>
            </a:pPr>
            <a:r>
              <a:rPr lang="en-US" dirty="0"/>
              <a:t>📌 </a:t>
            </a:r>
            <a:r>
              <a:rPr lang="en-US" b="1" dirty="0"/>
              <a:t>Create a Python file</a:t>
            </a:r>
            <a:r>
              <a:rPr lang="en-US" dirty="0"/>
              <a:t> 🐍 &gt; Inside </a:t>
            </a:r>
            <a:r>
              <a:rPr lang="en-US" b="1" dirty="0"/>
              <a:t>📂 /spiders/</a:t>
            </a:r>
            <a:r>
              <a:rPr lang="en-US" dirty="0"/>
              <a:t> folder &gt; Name it </a:t>
            </a:r>
            <a:r>
              <a:rPr lang="en-US" b="1" dirty="0"/>
              <a:t>📝 </a:t>
            </a:r>
            <a:r>
              <a:rPr lang="en-US" b="1" i="1" dirty="0"/>
              <a:t>spider_name.py</a:t>
            </a:r>
          </a:p>
        </p:txBody>
      </p:sp>
      <p:sp>
        <p:nvSpPr>
          <p:cNvPr id="3" name="Title 2">
            <a:extLst>
              <a:ext uri="{FF2B5EF4-FFF2-40B4-BE49-F238E27FC236}">
                <a16:creationId xmlns:a16="http://schemas.microsoft.com/office/drawing/2014/main" id="{B7281A48-E5D1-324D-5DF7-B42D4C1496F5}"/>
              </a:ext>
            </a:extLst>
          </p:cNvPr>
          <p:cNvSpPr>
            <a:spLocks noGrp="1"/>
          </p:cNvSpPr>
          <p:nvPr>
            <p:ph type="title"/>
          </p:nvPr>
        </p:nvSpPr>
        <p:spPr>
          <a:xfrm>
            <a:off x="713250" y="160993"/>
            <a:ext cx="7717500" cy="541500"/>
          </a:xfrm>
        </p:spPr>
        <p:txBody>
          <a:bodyPr/>
          <a:lstStyle/>
          <a:p>
            <a:r>
              <a:rPr lang="en-US" dirty="0"/>
              <a:t>Creating our First Spider (Web Crawler)</a:t>
            </a:r>
            <a:endParaRPr lang="en-IN" dirty="0"/>
          </a:p>
        </p:txBody>
      </p:sp>
      <p:sp>
        <p:nvSpPr>
          <p:cNvPr id="5" name="Rectangle 4">
            <a:extLst>
              <a:ext uri="{FF2B5EF4-FFF2-40B4-BE49-F238E27FC236}">
                <a16:creationId xmlns:a16="http://schemas.microsoft.com/office/drawing/2014/main" id="{CCD8FD25-66DD-5D1E-A1C9-CAA4D0C25783}"/>
              </a:ext>
            </a:extLst>
          </p:cNvPr>
          <p:cNvSpPr/>
          <p:nvPr/>
        </p:nvSpPr>
        <p:spPr>
          <a:xfrm>
            <a:off x="713250" y="1730584"/>
            <a:ext cx="7717500" cy="2423886"/>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IN" sz="1100" b="0" dirty="0">
                <a:solidFill>
                  <a:srgbClr val="C586C0"/>
                </a:solidFill>
                <a:effectLst/>
                <a:latin typeface="Consolas" panose="020B0609020204030204" pitchFamily="49" charset="0"/>
              </a:rPr>
              <a:t>import</a:t>
            </a:r>
            <a:r>
              <a:rPr lang="en-IN" sz="1100" b="0" dirty="0">
                <a:solidFill>
                  <a:srgbClr val="CCCCCC"/>
                </a:solidFill>
                <a:effectLst/>
                <a:latin typeface="Consolas" panose="020B0609020204030204" pitchFamily="49" charset="0"/>
              </a:rPr>
              <a:t> </a:t>
            </a:r>
            <a:r>
              <a:rPr lang="en-IN" sz="1100" b="0" dirty="0">
                <a:solidFill>
                  <a:srgbClr val="4EC9B0"/>
                </a:solidFill>
                <a:effectLst/>
                <a:latin typeface="Consolas" panose="020B0609020204030204" pitchFamily="49" charset="0"/>
              </a:rPr>
              <a:t>scrapy</a:t>
            </a:r>
            <a:r>
              <a:rPr lang="en-IN" sz="1100" b="0" dirty="0">
                <a:solidFill>
                  <a:srgbClr val="CCCCCC"/>
                </a:solidFill>
                <a:effectLst/>
                <a:latin typeface="Consolas" panose="020B0609020204030204" pitchFamily="49" charset="0"/>
              </a:rPr>
              <a:t>  </a:t>
            </a:r>
            <a:r>
              <a:rPr lang="en-IN" sz="1100" b="0" dirty="0">
                <a:solidFill>
                  <a:srgbClr val="6A9955"/>
                </a:solidFill>
                <a:effectLst/>
                <a:latin typeface="Consolas" panose="020B0609020204030204" pitchFamily="49" charset="0"/>
              </a:rPr>
              <a:t># Importing Scrapy framework</a:t>
            </a:r>
            <a:endParaRPr lang="en-IN" sz="1100" b="0" dirty="0">
              <a:solidFill>
                <a:srgbClr val="CCCCCC"/>
              </a:solidFill>
              <a:effectLst/>
              <a:latin typeface="Consolas" panose="020B0609020204030204" pitchFamily="49" charset="0"/>
            </a:endParaRPr>
          </a:p>
          <a:p>
            <a:pPr>
              <a:lnSpc>
                <a:spcPts val="1425"/>
              </a:lnSpc>
              <a:buNone/>
            </a:pPr>
            <a:br>
              <a:rPr lang="en-IN" sz="1100" b="0" dirty="0">
                <a:solidFill>
                  <a:srgbClr val="CCCCCC"/>
                </a:solidFill>
                <a:effectLst/>
                <a:latin typeface="Consolas" panose="020B0609020204030204" pitchFamily="49" charset="0"/>
              </a:rPr>
            </a:br>
            <a:r>
              <a:rPr lang="en-IN" sz="1100" b="0" dirty="0">
                <a:solidFill>
                  <a:srgbClr val="569CD6"/>
                </a:solidFill>
                <a:effectLst/>
                <a:latin typeface="Consolas" panose="020B0609020204030204" pitchFamily="49" charset="0"/>
              </a:rPr>
              <a:t>class</a:t>
            </a:r>
            <a:r>
              <a:rPr lang="en-IN" sz="1100" b="0" dirty="0">
                <a:solidFill>
                  <a:srgbClr val="CCCCCC"/>
                </a:solidFill>
                <a:effectLst/>
                <a:latin typeface="Consolas" panose="020B0609020204030204" pitchFamily="49" charset="0"/>
              </a:rPr>
              <a:t> </a:t>
            </a:r>
            <a:r>
              <a:rPr lang="en-IN" sz="1100" b="0" dirty="0" err="1">
                <a:solidFill>
                  <a:srgbClr val="4EC9B0"/>
                </a:solidFill>
                <a:effectLst/>
                <a:latin typeface="Consolas" panose="020B0609020204030204" pitchFamily="49" charset="0"/>
              </a:rPr>
              <a:t>QuotesSpider</a:t>
            </a:r>
            <a:r>
              <a:rPr lang="en-IN" sz="1100" b="0" dirty="0">
                <a:solidFill>
                  <a:srgbClr val="CCCCCC"/>
                </a:solidFill>
                <a:effectLst/>
                <a:latin typeface="Consolas" panose="020B0609020204030204" pitchFamily="49" charset="0"/>
              </a:rPr>
              <a:t>(</a:t>
            </a:r>
            <a:r>
              <a:rPr lang="en-IN" sz="1100" b="0" dirty="0" err="1">
                <a:solidFill>
                  <a:srgbClr val="4EC9B0"/>
                </a:solidFill>
                <a:effectLst/>
                <a:latin typeface="Consolas" panose="020B0609020204030204" pitchFamily="49" charset="0"/>
              </a:rPr>
              <a:t>scrapy</a:t>
            </a:r>
            <a:r>
              <a:rPr lang="en-IN" sz="1100" b="0" dirty="0" err="1">
                <a:solidFill>
                  <a:srgbClr val="CCCCCC"/>
                </a:solidFill>
                <a:effectLst/>
                <a:latin typeface="Consolas" panose="020B0609020204030204" pitchFamily="49" charset="0"/>
              </a:rPr>
              <a:t>.</a:t>
            </a:r>
            <a:r>
              <a:rPr lang="en-IN" sz="1100" b="0" dirty="0" err="1">
                <a:solidFill>
                  <a:srgbClr val="4EC9B0"/>
                </a:solidFill>
                <a:effectLst/>
                <a:latin typeface="Consolas" panose="020B0609020204030204" pitchFamily="49" charset="0"/>
              </a:rPr>
              <a:t>Spider</a:t>
            </a:r>
            <a:r>
              <a:rPr lang="en-IN" sz="1100" b="0" dirty="0">
                <a:solidFill>
                  <a:srgbClr val="CCCCCC"/>
                </a:solidFill>
                <a:effectLst/>
                <a:latin typeface="Consolas" panose="020B0609020204030204" pitchFamily="49" charset="0"/>
              </a:rPr>
              <a:t>):  </a:t>
            </a:r>
          </a:p>
          <a:p>
            <a:pPr>
              <a:lnSpc>
                <a:spcPts val="1425"/>
              </a:lnSpc>
              <a:buNone/>
            </a:pPr>
            <a:r>
              <a:rPr lang="en-IN" sz="1100" b="0" dirty="0">
                <a:solidFill>
                  <a:srgbClr val="CCCCCC"/>
                </a:solidFill>
                <a:effectLst/>
                <a:latin typeface="Consolas" panose="020B0609020204030204" pitchFamily="49" charset="0"/>
              </a:rPr>
              <a:t>    </a:t>
            </a:r>
            <a:r>
              <a:rPr lang="en-IN" sz="1100" b="0" dirty="0">
                <a:solidFill>
                  <a:srgbClr val="9CDCFE"/>
                </a:solidFill>
                <a:effectLst/>
                <a:latin typeface="Consolas" panose="020B0609020204030204" pitchFamily="49" charset="0"/>
              </a:rPr>
              <a:t>name</a:t>
            </a:r>
            <a:r>
              <a:rPr lang="en-IN" sz="1100" b="0" dirty="0">
                <a:solidFill>
                  <a:srgbClr val="CCCCCC"/>
                </a:solidFill>
                <a:effectLst/>
                <a:latin typeface="Consolas" panose="020B0609020204030204" pitchFamily="49" charset="0"/>
              </a:rPr>
              <a:t> </a:t>
            </a:r>
            <a:r>
              <a:rPr lang="en-IN" sz="1100" b="0" dirty="0">
                <a:solidFill>
                  <a:srgbClr val="D4D4D4"/>
                </a:solidFill>
                <a:effectLst/>
                <a:latin typeface="Consolas" panose="020B0609020204030204" pitchFamily="49" charset="0"/>
              </a:rPr>
              <a:t>=</a:t>
            </a:r>
            <a:r>
              <a:rPr lang="en-IN" sz="1100" b="0" dirty="0">
                <a:solidFill>
                  <a:srgbClr val="CCCCCC"/>
                </a:solidFill>
                <a:effectLst/>
                <a:latin typeface="Consolas" panose="020B0609020204030204" pitchFamily="49" charset="0"/>
              </a:rPr>
              <a:t> </a:t>
            </a:r>
            <a:r>
              <a:rPr lang="en-IN" sz="1100" b="0" dirty="0">
                <a:solidFill>
                  <a:srgbClr val="CE9178"/>
                </a:solidFill>
                <a:effectLst/>
                <a:latin typeface="Consolas" panose="020B0609020204030204" pitchFamily="49" charset="0"/>
              </a:rPr>
              <a:t>'quotes'</a:t>
            </a:r>
            <a:r>
              <a:rPr lang="en-IN" sz="1100" b="0" dirty="0">
                <a:solidFill>
                  <a:srgbClr val="CCCCCC"/>
                </a:solidFill>
                <a:effectLst/>
                <a:latin typeface="Consolas" panose="020B0609020204030204" pitchFamily="49" charset="0"/>
              </a:rPr>
              <a:t>  </a:t>
            </a:r>
            <a:r>
              <a:rPr lang="en-IN" sz="1100" b="0" dirty="0">
                <a:solidFill>
                  <a:srgbClr val="6A9955"/>
                </a:solidFill>
                <a:effectLst/>
                <a:latin typeface="Consolas" panose="020B0609020204030204" pitchFamily="49" charset="0"/>
              </a:rPr>
              <a:t># Unique name for the spider</a:t>
            </a:r>
            <a:endParaRPr lang="en-IN" sz="1100" b="0" dirty="0">
              <a:solidFill>
                <a:srgbClr val="CCCCCC"/>
              </a:solidFill>
              <a:effectLst/>
              <a:latin typeface="Consolas" panose="020B0609020204030204" pitchFamily="49" charset="0"/>
            </a:endParaRPr>
          </a:p>
          <a:p>
            <a:pPr>
              <a:lnSpc>
                <a:spcPts val="1425"/>
              </a:lnSpc>
              <a:buNone/>
            </a:pPr>
            <a:r>
              <a:rPr lang="en-IN" sz="1100" b="0" dirty="0">
                <a:solidFill>
                  <a:srgbClr val="CCCCCC"/>
                </a:solidFill>
                <a:effectLst/>
                <a:latin typeface="Consolas" panose="020B0609020204030204" pitchFamily="49" charset="0"/>
              </a:rPr>
              <a:t>    </a:t>
            </a:r>
            <a:r>
              <a:rPr lang="en-IN" sz="1100" b="0" dirty="0" err="1">
                <a:solidFill>
                  <a:srgbClr val="9CDCFE"/>
                </a:solidFill>
                <a:effectLst/>
                <a:latin typeface="Consolas" panose="020B0609020204030204" pitchFamily="49" charset="0"/>
              </a:rPr>
              <a:t>start_urls</a:t>
            </a:r>
            <a:r>
              <a:rPr lang="en-IN" sz="1100" b="0" dirty="0">
                <a:solidFill>
                  <a:srgbClr val="CCCCCC"/>
                </a:solidFill>
                <a:effectLst/>
                <a:latin typeface="Consolas" panose="020B0609020204030204" pitchFamily="49" charset="0"/>
              </a:rPr>
              <a:t> </a:t>
            </a:r>
            <a:r>
              <a:rPr lang="en-IN" sz="1100" b="0" dirty="0">
                <a:solidFill>
                  <a:srgbClr val="D4D4D4"/>
                </a:solidFill>
                <a:effectLst/>
                <a:latin typeface="Consolas" panose="020B0609020204030204" pitchFamily="49" charset="0"/>
              </a:rPr>
              <a:t>=</a:t>
            </a:r>
            <a:r>
              <a:rPr lang="en-IN" sz="1100" b="0" dirty="0">
                <a:solidFill>
                  <a:srgbClr val="CCCCCC"/>
                </a:solidFill>
                <a:effectLst/>
                <a:latin typeface="Consolas" panose="020B0609020204030204" pitchFamily="49" charset="0"/>
              </a:rPr>
              <a:t> [</a:t>
            </a:r>
            <a:r>
              <a:rPr lang="en-IN" sz="1100" b="0" dirty="0">
                <a:solidFill>
                  <a:srgbClr val="CE9178"/>
                </a:solidFill>
                <a:effectLst/>
                <a:latin typeface="Consolas" panose="020B0609020204030204" pitchFamily="49" charset="0"/>
              </a:rPr>
              <a:t>'https://quotes.toscrape.com/'</a:t>
            </a:r>
            <a:r>
              <a:rPr lang="en-IN" sz="1100" b="0" dirty="0">
                <a:solidFill>
                  <a:srgbClr val="CCCCCC"/>
                </a:solidFill>
                <a:effectLst/>
                <a:latin typeface="Consolas" panose="020B0609020204030204" pitchFamily="49" charset="0"/>
              </a:rPr>
              <a:t>]  </a:t>
            </a:r>
            <a:r>
              <a:rPr lang="en-IN" sz="1100" b="0" dirty="0">
                <a:solidFill>
                  <a:srgbClr val="6A9955"/>
                </a:solidFill>
                <a:effectLst/>
                <a:latin typeface="Consolas" panose="020B0609020204030204" pitchFamily="49" charset="0"/>
              </a:rPr>
              <a:t># The website URL to scrape</a:t>
            </a:r>
            <a:endParaRPr lang="en-IN" sz="1100" b="0" dirty="0">
              <a:solidFill>
                <a:srgbClr val="CCCCCC"/>
              </a:solidFill>
              <a:effectLst/>
              <a:latin typeface="Consolas" panose="020B0609020204030204" pitchFamily="49" charset="0"/>
            </a:endParaRPr>
          </a:p>
          <a:p>
            <a:pPr>
              <a:lnSpc>
                <a:spcPts val="1425"/>
              </a:lnSpc>
              <a:buNone/>
            </a:pPr>
            <a:br>
              <a:rPr lang="en-IN" sz="1100" b="0" dirty="0">
                <a:solidFill>
                  <a:srgbClr val="CCCCCC"/>
                </a:solidFill>
                <a:effectLst/>
                <a:latin typeface="Consolas" panose="020B0609020204030204" pitchFamily="49" charset="0"/>
              </a:rPr>
            </a:br>
            <a:r>
              <a:rPr lang="en-IN" sz="1100" b="0" dirty="0">
                <a:solidFill>
                  <a:srgbClr val="CCCCCC"/>
                </a:solidFill>
                <a:effectLst/>
                <a:latin typeface="Consolas" panose="020B0609020204030204" pitchFamily="49" charset="0"/>
              </a:rPr>
              <a:t>    </a:t>
            </a:r>
            <a:r>
              <a:rPr lang="en-IN" sz="1100" b="0" dirty="0">
                <a:solidFill>
                  <a:srgbClr val="569CD6"/>
                </a:solidFill>
                <a:effectLst/>
                <a:latin typeface="Consolas" panose="020B0609020204030204" pitchFamily="49" charset="0"/>
              </a:rPr>
              <a:t>def</a:t>
            </a:r>
            <a:r>
              <a:rPr lang="en-IN" sz="1100" b="0" dirty="0">
                <a:solidFill>
                  <a:srgbClr val="CCCCCC"/>
                </a:solidFill>
                <a:effectLst/>
                <a:latin typeface="Consolas" panose="020B0609020204030204" pitchFamily="49" charset="0"/>
              </a:rPr>
              <a:t> </a:t>
            </a:r>
            <a:r>
              <a:rPr lang="en-IN" sz="1100" b="0" dirty="0">
                <a:solidFill>
                  <a:srgbClr val="DCDCAA"/>
                </a:solidFill>
                <a:effectLst/>
                <a:latin typeface="Consolas" panose="020B0609020204030204" pitchFamily="49" charset="0"/>
              </a:rPr>
              <a:t>parse</a:t>
            </a:r>
            <a:r>
              <a:rPr lang="en-IN" sz="1100" b="0" dirty="0">
                <a:solidFill>
                  <a:srgbClr val="CCCCCC"/>
                </a:solidFill>
                <a:effectLst/>
                <a:latin typeface="Consolas" panose="020B0609020204030204" pitchFamily="49" charset="0"/>
              </a:rPr>
              <a:t>(</a:t>
            </a:r>
            <a:r>
              <a:rPr lang="en-IN" sz="1100" b="0" dirty="0">
                <a:solidFill>
                  <a:srgbClr val="9CDCFE"/>
                </a:solidFill>
                <a:effectLst/>
                <a:latin typeface="Consolas" panose="020B0609020204030204" pitchFamily="49" charset="0"/>
              </a:rPr>
              <a:t>self</a:t>
            </a:r>
            <a:r>
              <a:rPr lang="en-IN" sz="1100" b="0" dirty="0">
                <a:solidFill>
                  <a:srgbClr val="CCCCCC"/>
                </a:solidFill>
                <a:effectLst/>
                <a:latin typeface="Consolas" panose="020B0609020204030204" pitchFamily="49" charset="0"/>
              </a:rPr>
              <a:t>, </a:t>
            </a:r>
            <a:r>
              <a:rPr lang="en-IN" sz="1100" b="0" dirty="0">
                <a:solidFill>
                  <a:srgbClr val="9CDCFE"/>
                </a:solidFill>
                <a:effectLst/>
                <a:latin typeface="Consolas" panose="020B0609020204030204" pitchFamily="49" charset="0"/>
              </a:rPr>
              <a:t>response</a:t>
            </a:r>
            <a:r>
              <a:rPr lang="en-IN" sz="1100" b="0" dirty="0">
                <a:solidFill>
                  <a:srgbClr val="CCCCCC"/>
                </a:solidFill>
                <a:effectLst/>
                <a:latin typeface="Consolas" panose="020B0609020204030204" pitchFamily="49" charset="0"/>
              </a:rPr>
              <a:t>):  </a:t>
            </a:r>
          </a:p>
          <a:p>
            <a:pPr>
              <a:lnSpc>
                <a:spcPts val="1425"/>
              </a:lnSpc>
              <a:buNone/>
            </a:pPr>
            <a:r>
              <a:rPr lang="en-IN" sz="1100" b="0" dirty="0">
                <a:solidFill>
                  <a:srgbClr val="CCCCCC"/>
                </a:solidFill>
                <a:effectLst/>
                <a:latin typeface="Consolas" panose="020B0609020204030204" pitchFamily="49" charset="0"/>
              </a:rPr>
              <a:t>        </a:t>
            </a:r>
            <a:r>
              <a:rPr lang="en-IN" sz="1100" b="0" dirty="0">
                <a:solidFill>
                  <a:srgbClr val="6A9955"/>
                </a:solidFill>
                <a:effectLst/>
                <a:latin typeface="Consolas" panose="020B0609020204030204" pitchFamily="49" charset="0"/>
              </a:rPr>
              <a:t># Extracting the title of the webpage</a:t>
            </a:r>
            <a:endParaRPr lang="en-IN" sz="1100" b="0" dirty="0">
              <a:solidFill>
                <a:srgbClr val="CCCCCC"/>
              </a:solidFill>
              <a:effectLst/>
              <a:latin typeface="Consolas" panose="020B0609020204030204" pitchFamily="49" charset="0"/>
            </a:endParaRPr>
          </a:p>
          <a:p>
            <a:pPr>
              <a:lnSpc>
                <a:spcPts val="1425"/>
              </a:lnSpc>
              <a:buNone/>
            </a:pPr>
            <a:r>
              <a:rPr lang="en-IN" sz="1100" b="0" dirty="0">
                <a:solidFill>
                  <a:srgbClr val="CCCCCC"/>
                </a:solidFill>
                <a:effectLst/>
                <a:latin typeface="Consolas" panose="020B0609020204030204" pitchFamily="49" charset="0"/>
              </a:rPr>
              <a:t>        </a:t>
            </a:r>
            <a:r>
              <a:rPr lang="en-IN" sz="1100" b="0" dirty="0">
                <a:solidFill>
                  <a:srgbClr val="9CDCFE"/>
                </a:solidFill>
                <a:effectLst/>
                <a:latin typeface="Consolas" panose="020B0609020204030204" pitchFamily="49" charset="0"/>
              </a:rPr>
              <a:t>title</a:t>
            </a:r>
            <a:r>
              <a:rPr lang="en-IN" sz="1100" b="0" dirty="0">
                <a:solidFill>
                  <a:srgbClr val="CCCCCC"/>
                </a:solidFill>
                <a:effectLst/>
                <a:latin typeface="Consolas" panose="020B0609020204030204" pitchFamily="49" charset="0"/>
              </a:rPr>
              <a:t> </a:t>
            </a:r>
            <a:r>
              <a:rPr lang="en-IN" sz="1100" b="0" dirty="0">
                <a:solidFill>
                  <a:srgbClr val="D4D4D4"/>
                </a:solidFill>
                <a:effectLst/>
                <a:latin typeface="Consolas" panose="020B0609020204030204" pitchFamily="49" charset="0"/>
              </a:rPr>
              <a:t>=</a:t>
            </a:r>
            <a:r>
              <a:rPr lang="en-IN" sz="1100" b="0" dirty="0">
                <a:solidFill>
                  <a:srgbClr val="CCCCCC"/>
                </a:solidFill>
                <a:effectLst/>
                <a:latin typeface="Consolas" panose="020B0609020204030204" pitchFamily="49" charset="0"/>
              </a:rPr>
              <a:t> </a:t>
            </a:r>
            <a:r>
              <a:rPr lang="en-IN" sz="1100" b="0" dirty="0">
                <a:solidFill>
                  <a:srgbClr val="9CDCFE"/>
                </a:solidFill>
                <a:effectLst/>
                <a:latin typeface="Consolas" panose="020B0609020204030204" pitchFamily="49" charset="0"/>
              </a:rPr>
              <a:t>response</a:t>
            </a:r>
            <a:r>
              <a:rPr lang="en-IN" sz="1100" b="0" dirty="0">
                <a:solidFill>
                  <a:srgbClr val="CCCCCC"/>
                </a:solidFill>
                <a:effectLst/>
                <a:latin typeface="Consolas" panose="020B0609020204030204" pitchFamily="49" charset="0"/>
              </a:rPr>
              <a:t>.css(</a:t>
            </a:r>
            <a:r>
              <a:rPr lang="en-IN" sz="1100" b="0" dirty="0">
                <a:solidFill>
                  <a:srgbClr val="CE9178"/>
                </a:solidFill>
                <a:effectLst/>
                <a:latin typeface="Consolas" panose="020B0609020204030204" pitchFamily="49" charset="0"/>
              </a:rPr>
              <a:t>'title::text'</a:t>
            </a:r>
            <a:r>
              <a:rPr lang="en-IN" sz="1100" b="0" dirty="0">
                <a:solidFill>
                  <a:srgbClr val="CCCCCC"/>
                </a:solidFill>
                <a:effectLst/>
                <a:latin typeface="Consolas" panose="020B0609020204030204" pitchFamily="49" charset="0"/>
              </a:rPr>
              <a:t>).extract()</a:t>
            </a:r>
          </a:p>
          <a:p>
            <a:pPr>
              <a:lnSpc>
                <a:spcPts val="1425"/>
              </a:lnSpc>
              <a:buNone/>
            </a:pPr>
            <a:br>
              <a:rPr lang="en-IN" sz="1100" b="0" dirty="0">
                <a:solidFill>
                  <a:srgbClr val="CCCCCC"/>
                </a:solidFill>
                <a:effectLst/>
                <a:latin typeface="Consolas" panose="020B0609020204030204" pitchFamily="49" charset="0"/>
              </a:rPr>
            </a:br>
            <a:r>
              <a:rPr lang="en-IN" sz="1100" b="0" dirty="0">
                <a:solidFill>
                  <a:srgbClr val="CCCCCC"/>
                </a:solidFill>
                <a:effectLst/>
                <a:latin typeface="Consolas" panose="020B0609020204030204" pitchFamily="49" charset="0"/>
              </a:rPr>
              <a:t>        </a:t>
            </a:r>
            <a:r>
              <a:rPr lang="en-IN" sz="1100" b="0" dirty="0">
                <a:solidFill>
                  <a:srgbClr val="6A9955"/>
                </a:solidFill>
                <a:effectLst/>
                <a:latin typeface="Consolas" panose="020B0609020204030204" pitchFamily="49" charset="0"/>
              </a:rPr>
              <a:t># Yielding the extracted data in dictionary format</a:t>
            </a:r>
            <a:endParaRPr lang="en-IN" sz="1100" b="0" dirty="0">
              <a:solidFill>
                <a:srgbClr val="CCCCCC"/>
              </a:solidFill>
              <a:effectLst/>
              <a:latin typeface="Consolas" panose="020B0609020204030204" pitchFamily="49" charset="0"/>
            </a:endParaRPr>
          </a:p>
          <a:p>
            <a:pPr>
              <a:lnSpc>
                <a:spcPts val="1425"/>
              </a:lnSpc>
            </a:pPr>
            <a:r>
              <a:rPr lang="en-IN" sz="1100" b="0" dirty="0">
                <a:solidFill>
                  <a:srgbClr val="CCCCCC"/>
                </a:solidFill>
                <a:effectLst/>
                <a:latin typeface="Consolas" panose="020B0609020204030204" pitchFamily="49" charset="0"/>
              </a:rPr>
              <a:t>        </a:t>
            </a:r>
            <a:r>
              <a:rPr lang="en-IN" sz="1100" b="0" dirty="0">
                <a:solidFill>
                  <a:srgbClr val="C586C0"/>
                </a:solidFill>
                <a:effectLst/>
                <a:latin typeface="Consolas" panose="020B0609020204030204" pitchFamily="49" charset="0"/>
              </a:rPr>
              <a:t>yield</a:t>
            </a:r>
            <a:r>
              <a:rPr lang="en-IN" sz="1100" b="0" dirty="0">
                <a:solidFill>
                  <a:srgbClr val="CCCCCC"/>
                </a:solidFill>
                <a:effectLst/>
                <a:latin typeface="Consolas" panose="020B0609020204030204" pitchFamily="49" charset="0"/>
              </a:rPr>
              <a:t> {</a:t>
            </a:r>
            <a:r>
              <a:rPr lang="en-IN" sz="1100" b="0" dirty="0">
                <a:solidFill>
                  <a:srgbClr val="CE9178"/>
                </a:solidFill>
                <a:effectLst/>
                <a:latin typeface="Consolas" panose="020B0609020204030204" pitchFamily="49" charset="0"/>
              </a:rPr>
              <a:t>'title'</a:t>
            </a:r>
            <a:r>
              <a:rPr lang="en-IN" sz="1100" b="0" dirty="0">
                <a:solidFill>
                  <a:srgbClr val="CCCCCC"/>
                </a:solidFill>
                <a:effectLst/>
                <a:latin typeface="Consolas" panose="020B0609020204030204" pitchFamily="49" charset="0"/>
              </a:rPr>
              <a:t>: </a:t>
            </a:r>
            <a:r>
              <a:rPr lang="en-IN" sz="1100" b="0" dirty="0">
                <a:solidFill>
                  <a:srgbClr val="9CDCFE"/>
                </a:solidFill>
                <a:effectLst/>
                <a:latin typeface="Consolas" panose="020B0609020204030204" pitchFamily="49" charset="0"/>
              </a:rPr>
              <a:t>title</a:t>
            </a:r>
            <a:r>
              <a:rPr lang="en-IN" sz="1100" b="0" dirty="0">
                <a:solidFill>
                  <a:srgbClr val="CCCCCC"/>
                </a:solidFill>
                <a:effectLst/>
                <a:latin typeface="Consolas" panose="020B0609020204030204" pitchFamily="49" charset="0"/>
              </a:rPr>
              <a:t>}</a:t>
            </a:r>
          </a:p>
        </p:txBody>
      </p:sp>
      <p:sp>
        <p:nvSpPr>
          <p:cNvPr id="7" name="Text Placeholder 1">
            <a:extLst>
              <a:ext uri="{FF2B5EF4-FFF2-40B4-BE49-F238E27FC236}">
                <a16:creationId xmlns:a16="http://schemas.microsoft.com/office/drawing/2014/main" id="{049A6D0F-1B98-5900-47D1-09ECF74A1FAF}"/>
              </a:ext>
            </a:extLst>
          </p:cNvPr>
          <p:cNvSpPr txBox="1">
            <a:spLocks/>
          </p:cNvSpPr>
          <p:nvPr/>
        </p:nvSpPr>
        <p:spPr>
          <a:xfrm>
            <a:off x="713250" y="4239457"/>
            <a:ext cx="7717500" cy="371525"/>
          </a:xfrm>
          <a:prstGeom prst="rect">
            <a:avLst/>
          </a:prstGeom>
          <a:solidFill>
            <a:schemeClr val="tx1"/>
          </a:solid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a:t>Running the Spider</a:t>
            </a:r>
            <a:endParaRPr lang="en-IN" dirty="0"/>
          </a:p>
        </p:txBody>
      </p:sp>
      <p:sp>
        <p:nvSpPr>
          <p:cNvPr id="8" name="Rectangle 7">
            <a:extLst>
              <a:ext uri="{FF2B5EF4-FFF2-40B4-BE49-F238E27FC236}">
                <a16:creationId xmlns:a16="http://schemas.microsoft.com/office/drawing/2014/main" id="{ACF8CEB6-7BAC-B410-0A73-FBDD5173A8DA}"/>
              </a:ext>
            </a:extLst>
          </p:cNvPr>
          <p:cNvSpPr/>
          <p:nvPr/>
        </p:nvSpPr>
        <p:spPr>
          <a:xfrm>
            <a:off x="713250" y="4610982"/>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latin typeface="Consolas" panose="020B0609020204030204" pitchFamily="49" charset="0"/>
              </a:rPr>
              <a:t>scrapy crawl &lt;</a:t>
            </a:r>
            <a:r>
              <a:rPr lang="en-IN" dirty="0" err="1">
                <a:latin typeface="Consolas" panose="020B0609020204030204" pitchFamily="49" charset="0"/>
              </a:rPr>
              <a:t>spider_name</a:t>
            </a:r>
            <a:r>
              <a:rPr lang="en-IN" dirty="0">
                <a:latin typeface="Consolas" panose="020B0609020204030204" pitchFamily="49" charset="0"/>
              </a:rPr>
              <a:t>&gt; </a:t>
            </a:r>
          </a:p>
        </p:txBody>
      </p:sp>
      <p:sp>
        <p:nvSpPr>
          <p:cNvPr id="12" name="Rectangle 11">
            <a:extLst>
              <a:ext uri="{FF2B5EF4-FFF2-40B4-BE49-F238E27FC236}">
                <a16:creationId xmlns:a16="http://schemas.microsoft.com/office/drawing/2014/main" id="{95F49A5E-3BEC-0EB4-0187-5A6B3DEB3ACF}"/>
              </a:ext>
            </a:extLst>
          </p:cNvPr>
          <p:cNvSpPr/>
          <p:nvPr/>
        </p:nvSpPr>
        <p:spPr>
          <a:xfrm>
            <a:off x="713250" y="787480"/>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55448"/>
            <a:r>
              <a:rPr lang="en-IN" dirty="0">
                <a:latin typeface="Consolas" panose="020B0609020204030204" pitchFamily="49" charset="0"/>
              </a:rPr>
              <a:t>scrapy </a:t>
            </a:r>
            <a:r>
              <a:rPr lang="en-IN" dirty="0" err="1">
                <a:latin typeface="Consolas" panose="020B0609020204030204" pitchFamily="49" charset="0"/>
              </a:rPr>
              <a:t>genspider</a:t>
            </a:r>
            <a:r>
              <a:rPr lang="en-IN" dirty="0">
                <a:latin typeface="Consolas" panose="020B0609020204030204" pitchFamily="49" charset="0"/>
              </a:rPr>
              <a:t> &lt;</a:t>
            </a:r>
            <a:r>
              <a:rPr lang="en-IN" dirty="0" err="1">
                <a:latin typeface="Consolas" panose="020B0609020204030204" pitchFamily="49" charset="0"/>
              </a:rPr>
              <a:t>spider_name</a:t>
            </a:r>
            <a:r>
              <a:rPr lang="en-IN" dirty="0">
                <a:latin typeface="Consolas" panose="020B0609020204030204" pitchFamily="49" charset="0"/>
              </a:rPr>
              <a:t>&gt; &lt;</a:t>
            </a:r>
            <a:r>
              <a:rPr lang="en-IN" dirty="0" err="1">
                <a:latin typeface="Consolas" panose="020B0609020204030204" pitchFamily="49" charset="0"/>
              </a:rPr>
              <a:t>website_url</a:t>
            </a:r>
            <a:r>
              <a:rPr lang="en-IN" dirty="0">
                <a:latin typeface="Consolas" panose="020B0609020204030204" pitchFamily="49" charset="0"/>
              </a:rPr>
              <a:t>&gt;</a:t>
            </a:r>
          </a:p>
        </p:txBody>
      </p:sp>
    </p:spTree>
    <p:extLst>
      <p:ext uri="{BB962C8B-B14F-4D97-AF65-F5344CB8AC3E}">
        <p14:creationId xmlns:p14="http://schemas.microsoft.com/office/powerpoint/2010/main" val="3240249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02BE4F-CECE-79CD-47C0-10DDEC5B4A8A}"/>
              </a:ext>
            </a:extLst>
          </p:cNvPr>
          <p:cNvSpPr>
            <a:spLocks noGrp="1"/>
          </p:cNvSpPr>
          <p:nvPr>
            <p:ph type="body" idx="1"/>
          </p:nvPr>
        </p:nvSpPr>
        <p:spPr>
          <a:xfrm>
            <a:off x="713250" y="738092"/>
            <a:ext cx="7717500" cy="1419275"/>
          </a:xfrm>
        </p:spPr>
        <p:txBody>
          <a:bodyPr/>
          <a:lstStyle/>
          <a:p>
            <a:pPr>
              <a:buNone/>
            </a:pPr>
            <a:r>
              <a:rPr lang="en-US" dirty="0">
                <a:solidFill>
                  <a:schemeClr val="bg1">
                    <a:lumMod val="10000"/>
                  </a:schemeClr>
                </a:solidFill>
              </a:rPr>
              <a:t>📌 </a:t>
            </a:r>
            <a:r>
              <a:rPr lang="en-US" b="1" dirty="0">
                <a:solidFill>
                  <a:schemeClr val="bg1">
                    <a:lumMod val="10000"/>
                  </a:schemeClr>
                </a:solidFill>
              </a:rPr>
              <a:t>Why do we need selectors?</a:t>
            </a:r>
            <a:endParaRPr lang="en-US" dirty="0">
              <a:solidFill>
                <a:schemeClr val="bg1">
                  <a:lumMod val="10000"/>
                </a:schemeClr>
              </a:solidFill>
            </a:endParaRPr>
          </a:p>
          <a:p>
            <a:pPr>
              <a:buFont typeface="Arial" panose="020B0604020202020204" pitchFamily="34" charset="0"/>
              <a:buChar char="•"/>
            </a:pPr>
            <a:r>
              <a:rPr lang="en-US" dirty="0">
                <a:solidFill>
                  <a:schemeClr val="bg1">
                    <a:lumMod val="10000"/>
                  </a:schemeClr>
                </a:solidFill>
              </a:rPr>
              <a:t>Scrapy extracts data from web pages, but </a:t>
            </a:r>
            <a:r>
              <a:rPr lang="en-US" b="1" dirty="0">
                <a:solidFill>
                  <a:schemeClr val="bg1">
                    <a:lumMod val="10000"/>
                  </a:schemeClr>
                </a:solidFill>
              </a:rPr>
              <a:t>we need a way to target specific elements</a:t>
            </a:r>
            <a:r>
              <a:rPr lang="en-US" dirty="0">
                <a:solidFill>
                  <a:schemeClr val="bg1">
                    <a:lumMod val="10000"/>
                  </a:schemeClr>
                </a:solidFill>
              </a:rPr>
              <a:t> (like titles, prices, or links).</a:t>
            </a:r>
          </a:p>
          <a:p>
            <a:pPr>
              <a:buFont typeface="Arial" panose="020B0604020202020204" pitchFamily="34" charset="0"/>
              <a:buChar char="•"/>
            </a:pPr>
            <a:r>
              <a:rPr lang="en-US" b="1" dirty="0">
                <a:solidFill>
                  <a:schemeClr val="bg1">
                    <a:lumMod val="10000"/>
                  </a:schemeClr>
                </a:solidFill>
              </a:rPr>
              <a:t>Selectors help us find and extract the right data</a:t>
            </a:r>
            <a:r>
              <a:rPr lang="en-US" dirty="0">
                <a:solidFill>
                  <a:schemeClr val="bg1">
                    <a:lumMod val="10000"/>
                  </a:schemeClr>
                </a:solidFill>
              </a:rPr>
              <a:t> from HTML.</a:t>
            </a:r>
          </a:p>
          <a:p>
            <a:pPr marL="152400" indent="0">
              <a:buNone/>
            </a:pPr>
            <a:r>
              <a:rPr lang="en-US" dirty="0">
                <a:solidFill>
                  <a:schemeClr val="bg1">
                    <a:lumMod val="10000"/>
                  </a:schemeClr>
                </a:solidFill>
              </a:rPr>
              <a:t>📌 </a:t>
            </a:r>
            <a:r>
              <a:rPr lang="en-US" b="1" dirty="0">
                <a:solidFill>
                  <a:schemeClr val="bg1">
                    <a:lumMod val="10000"/>
                  </a:schemeClr>
                </a:solidFill>
              </a:rPr>
              <a:t>Types of Selectors in Scrapy:</a:t>
            </a:r>
            <a:br>
              <a:rPr lang="en-US" dirty="0">
                <a:solidFill>
                  <a:schemeClr val="bg1">
                    <a:lumMod val="10000"/>
                  </a:schemeClr>
                </a:solidFill>
              </a:rPr>
            </a:br>
            <a:r>
              <a:rPr lang="en-US" dirty="0">
                <a:solidFill>
                  <a:schemeClr val="bg1">
                    <a:lumMod val="10000"/>
                  </a:schemeClr>
                </a:solidFill>
              </a:rPr>
              <a:t>1️⃣ </a:t>
            </a:r>
            <a:r>
              <a:rPr lang="en-US" b="1" dirty="0">
                <a:solidFill>
                  <a:schemeClr val="bg1">
                    <a:lumMod val="10000"/>
                  </a:schemeClr>
                </a:solidFill>
              </a:rPr>
              <a:t>CSS Selectors</a:t>
            </a:r>
            <a:r>
              <a:rPr lang="en-US" dirty="0">
                <a:solidFill>
                  <a:schemeClr val="bg1">
                    <a:lumMod val="10000"/>
                  </a:schemeClr>
                </a:solidFill>
              </a:rPr>
              <a:t> – Simple, readable, and similar to how CSS styles elements.</a:t>
            </a:r>
            <a:br>
              <a:rPr lang="en-US" dirty="0">
                <a:solidFill>
                  <a:schemeClr val="bg1">
                    <a:lumMod val="10000"/>
                  </a:schemeClr>
                </a:solidFill>
              </a:rPr>
            </a:br>
            <a:r>
              <a:rPr lang="en-US" dirty="0">
                <a:solidFill>
                  <a:schemeClr val="bg1">
                    <a:lumMod val="10000"/>
                  </a:schemeClr>
                </a:solidFill>
              </a:rPr>
              <a:t>2️⃣ </a:t>
            </a:r>
            <a:r>
              <a:rPr lang="en-US" b="1" dirty="0">
                <a:solidFill>
                  <a:schemeClr val="bg1">
                    <a:lumMod val="10000"/>
                  </a:schemeClr>
                </a:solidFill>
              </a:rPr>
              <a:t>XPath Selectors</a:t>
            </a:r>
            <a:r>
              <a:rPr lang="en-US" dirty="0">
                <a:solidFill>
                  <a:schemeClr val="bg1">
                    <a:lumMod val="10000"/>
                  </a:schemeClr>
                </a:solidFill>
              </a:rPr>
              <a:t> – More powerful and works like a </a:t>
            </a:r>
            <a:r>
              <a:rPr lang="en-US" b="1" dirty="0">
                <a:solidFill>
                  <a:schemeClr val="bg1">
                    <a:lumMod val="10000"/>
                  </a:schemeClr>
                </a:solidFill>
              </a:rPr>
              <a:t>pathfinder</a:t>
            </a:r>
            <a:r>
              <a:rPr lang="en-US" dirty="0">
                <a:solidFill>
                  <a:schemeClr val="bg1">
                    <a:lumMod val="10000"/>
                  </a:schemeClr>
                </a:solidFill>
              </a:rPr>
              <a:t> through HTML.</a:t>
            </a:r>
          </a:p>
          <a:p>
            <a:pPr marL="152400" indent="0">
              <a:buNone/>
            </a:pPr>
            <a:endParaRPr lang="en-IN" dirty="0">
              <a:solidFill>
                <a:schemeClr val="bg1">
                  <a:lumMod val="10000"/>
                </a:schemeClr>
              </a:solidFill>
            </a:endParaRPr>
          </a:p>
        </p:txBody>
      </p:sp>
      <p:sp>
        <p:nvSpPr>
          <p:cNvPr id="3" name="Title 2">
            <a:extLst>
              <a:ext uri="{FF2B5EF4-FFF2-40B4-BE49-F238E27FC236}">
                <a16:creationId xmlns:a16="http://schemas.microsoft.com/office/drawing/2014/main" id="{7A1A6B21-FE68-13C9-263D-AD3D8F400F52}"/>
              </a:ext>
            </a:extLst>
          </p:cNvPr>
          <p:cNvSpPr>
            <a:spLocks noGrp="1"/>
          </p:cNvSpPr>
          <p:nvPr>
            <p:ph type="title"/>
          </p:nvPr>
        </p:nvSpPr>
        <p:spPr>
          <a:xfrm>
            <a:off x="713250" y="254510"/>
            <a:ext cx="7717500" cy="541500"/>
          </a:xfrm>
        </p:spPr>
        <p:txBody>
          <a:bodyPr/>
          <a:lstStyle/>
          <a:p>
            <a:r>
              <a:rPr lang="en-US" dirty="0"/>
              <a:t>Selectors</a:t>
            </a:r>
            <a:endParaRPr lang="en-IN" dirty="0"/>
          </a:p>
        </p:txBody>
      </p:sp>
      <p:graphicFrame>
        <p:nvGraphicFramePr>
          <p:cNvPr id="9" name="Table 8">
            <a:extLst>
              <a:ext uri="{FF2B5EF4-FFF2-40B4-BE49-F238E27FC236}">
                <a16:creationId xmlns:a16="http://schemas.microsoft.com/office/drawing/2014/main" id="{105D4AD5-8605-8820-2975-5919270CBC7C}"/>
              </a:ext>
            </a:extLst>
          </p:cNvPr>
          <p:cNvGraphicFramePr>
            <a:graphicFrameLocks noGrp="1"/>
          </p:cNvGraphicFramePr>
          <p:nvPr>
            <p:extLst>
              <p:ext uri="{D42A27DB-BD31-4B8C-83A1-F6EECF244321}">
                <p14:modId xmlns:p14="http://schemas.microsoft.com/office/powerpoint/2010/main" val="4230529809"/>
              </p:ext>
            </p:extLst>
          </p:nvPr>
        </p:nvGraphicFramePr>
        <p:xfrm>
          <a:off x="713250" y="2405884"/>
          <a:ext cx="7717500" cy="2001520"/>
        </p:xfrm>
        <a:graphic>
          <a:graphicData uri="http://schemas.openxmlformats.org/drawingml/2006/table">
            <a:tbl>
              <a:tblPr firstRow="1" bandRow="1">
                <a:tableStyleId>{23D71F08-918A-40D4-84CC-1E49CB3E10C8}</a:tableStyleId>
              </a:tblPr>
              <a:tblGrid>
                <a:gridCol w="2572500">
                  <a:extLst>
                    <a:ext uri="{9D8B030D-6E8A-4147-A177-3AD203B41FA5}">
                      <a16:colId xmlns:a16="http://schemas.microsoft.com/office/drawing/2014/main" val="3678311119"/>
                    </a:ext>
                  </a:extLst>
                </a:gridCol>
                <a:gridCol w="2572500">
                  <a:extLst>
                    <a:ext uri="{9D8B030D-6E8A-4147-A177-3AD203B41FA5}">
                      <a16:colId xmlns:a16="http://schemas.microsoft.com/office/drawing/2014/main" val="44356037"/>
                    </a:ext>
                  </a:extLst>
                </a:gridCol>
                <a:gridCol w="2572500">
                  <a:extLst>
                    <a:ext uri="{9D8B030D-6E8A-4147-A177-3AD203B41FA5}">
                      <a16:colId xmlns:a16="http://schemas.microsoft.com/office/drawing/2014/main" val="2249037160"/>
                    </a:ext>
                  </a:extLst>
                </a:gridCol>
              </a:tblGrid>
              <a:tr h="370840">
                <a:tc>
                  <a:txBody>
                    <a:bodyPr/>
                    <a:lstStyle/>
                    <a:p>
                      <a:r>
                        <a:rPr lang="en-IN" sz="1400" b="1" dirty="0"/>
                        <a:t>Feature</a:t>
                      </a:r>
                      <a:endParaRPr lang="en-IN" sz="1400" b="1" dirty="0">
                        <a:latin typeface="Manjari" panose="020B0604020202020204" charset="0"/>
                        <a:cs typeface="Manjari" panose="020B0604020202020204" charset="0"/>
                      </a:endParaRPr>
                    </a:p>
                  </a:txBody>
                  <a:tcPr anchor="ctr"/>
                </a:tc>
                <a:tc>
                  <a:txBody>
                    <a:bodyPr/>
                    <a:lstStyle/>
                    <a:p>
                      <a:r>
                        <a:rPr lang="en-IN" sz="1400" b="1" dirty="0"/>
                        <a:t>CSS Selectors 🎨</a:t>
                      </a:r>
                      <a:endParaRPr lang="en-IN" sz="1400" b="1" dirty="0">
                        <a:latin typeface="Manjari" panose="020B0604020202020204" charset="0"/>
                        <a:cs typeface="Manjari" panose="020B0604020202020204" charset="0"/>
                      </a:endParaRPr>
                    </a:p>
                  </a:txBody>
                  <a:tcPr anchor="ctr"/>
                </a:tc>
                <a:tc>
                  <a:txBody>
                    <a:bodyPr/>
                    <a:lstStyle/>
                    <a:p>
                      <a:r>
                        <a:rPr lang="en-IN" sz="1400" b="1" dirty="0"/>
                        <a:t>XPath Selectors 🛤️</a:t>
                      </a:r>
                      <a:endParaRPr lang="en-IN" sz="1400" b="1" dirty="0">
                        <a:latin typeface="Manjari" panose="020B0604020202020204" charset="0"/>
                        <a:cs typeface="Manjari" panose="020B0604020202020204" charset="0"/>
                      </a:endParaRPr>
                    </a:p>
                  </a:txBody>
                  <a:tcPr anchor="ctr"/>
                </a:tc>
                <a:extLst>
                  <a:ext uri="{0D108BD9-81ED-4DB2-BD59-A6C34878D82A}">
                    <a16:rowId xmlns:a16="http://schemas.microsoft.com/office/drawing/2014/main" val="2064661746"/>
                  </a:ext>
                </a:extLst>
              </a:tr>
              <a:tr h="370840">
                <a:tc>
                  <a:txBody>
                    <a:bodyPr/>
                    <a:lstStyle/>
                    <a:p>
                      <a:r>
                        <a:rPr lang="en-IN" sz="1400" b="1" dirty="0"/>
                        <a:t>Syntax</a:t>
                      </a:r>
                      <a:endParaRPr lang="en-IN" sz="1400" dirty="0">
                        <a:latin typeface="Manjari" panose="020B0604020202020204" charset="0"/>
                        <a:cs typeface="Manjari" panose="020B0604020202020204" charset="0"/>
                      </a:endParaRPr>
                    </a:p>
                  </a:txBody>
                  <a:tcPr anchor="ctr"/>
                </a:tc>
                <a:tc>
                  <a:txBody>
                    <a:bodyPr/>
                    <a:lstStyle/>
                    <a:p>
                      <a:r>
                        <a:rPr lang="en-IN" sz="1400" dirty="0" err="1"/>
                        <a:t>tag.class</a:t>
                      </a:r>
                      <a:r>
                        <a:rPr lang="en-IN" sz="1400" dirty="0"/>
                        <a:t> / #id</a:t>
                      </a:r>
                      <a:endParaRPr lang="en-IN" sz="1400" dirty="0">
                        <a:latin typeface="Manjari" panose="020B0604020202020204" charset="0"/>
                        <a:cs typeface="Manjari" panose="020B0604020202020204" charset="0"/>
                      </a:endParaRPr>
                    </a:p>
                  </a:txBody>
                  <a:tcPr anchor="ctr"/>
                </a:tc>
                <a:tc>
                  <a:txBody>
                    <a:bodyPr/>
                    <a:lstStyle/>
                    <a:p>
                      <a:r>
                        <a:rPr lang="en-IN" sz="1400" dirty="0"/>
                        <a:t>tag[@attribute="value"]</a:t>
                      </a:r>
                      <a:endParaRPr lang="en-IN" sz="1400" dirty="0">
                        <a:latin typeface="Manjari" panose="020B0604020202020204" charset="0"/>
                        <a:cs typeface="Manjari" panose="020B0604020202020204" charset="0"/>
                      </a:endParaRPr>
                    </a:p>
                  </a:txBody>
                  <a:tcPr anchor="ctr"/>
                </a:tc>
                <a:extLst>
                  <a:ext uri="{0D108BD9-81ED-4DB2-BD59-A6C34878D82A}">
                    <a16:rowId xmlns:a16="http://schemas.microsoft.com/office/drawing/2014/main" val="913376297"/>
                  </a:ext>
                </a:extLst>
              </a:tr>
              <a:tr h="370840">
                <a:tc>
                  <a:txBody>
                    <a:bodyPr/>
                    <a:lstStyle/>
                    <a:p>
                      <a:r>
                        <a:rPr lang="en-IN" sz="1400" b="1" dirty="0"/>
                        <a:t>Readability</a:t>
                      </a:r>
                      <a:endParaRPr lang="en-IN" sz="1400" dirty="0">
                        <a:latin typeface="Manjari" panose="020B0604020202020204" charset="0"/>
                        <a:cs typeface="Manjari" panose="020B0604020202020204" charset="0"/>
                      </a:endParaRPr>
                    </a:p>
                  </a:txBody>
                  <a:tcPr anchor="ctr"/>
                </a:tc>
                <a:tc>
                  <a:txBody>
                    <a:bodyPr/>
                    <a:lstStyle/>
                    <a:p>
                      <a:r>
                        <a:rPr lang="en-IN" sz="1400" dirty="0"/>
                        <a:t>✅ Simple &amp; Clean</a:t>
                      </a:r>
                      <a:endParaRPr lang="en-IN" sz="1400" dirty="0">
                        <a:latin typeface="Manjari" panose="020B0604020202020204" charset="0"/>
                        <a:cs typeface="Manjari" panose="020B0604020202020204" charset="0"/>
                      </a:endParaRPr>
                    </a:p>
                  </a:txBody>
                  <a:tcPr anchor="ctr"/>
                </a:tc>
                <a:tc>
                  <a:txBody>
                    <a:bodyPr/>
                    <a:lstStyle/>
                    <a:p>
                      <a:r>
                        <a:rPr lang="en-IN" sz="1400" dirty="0"/>
                        <a:t>❌ Complex &amp; Lengthy</a:t>
                      </a:r>
                      <a:endParaRPr lang="en-IN" sz="1400" dirty="0">
                        <a:latin typeface="Manjari" panose="020B0604020202020204" charset="0"/>
                        <a:cs typeface="Manjari" panose="020B0604020202020204" charset="0"/>
                      </a:endParaRPr>
                    </a:p>
                  </a:txBody>
                  <a:tcPr anchor="ctr"/>
                </a:tc>
                <a:extLst>
                  <a:ext uri="{0D108BD9-81ED-4DB2-BD59-A6C34878D82A}">
                    <a16:rowId xmlns:a16="http://schemas.microsoft.com/office/drawing/2014/main" val="485959064"/>
                  </a:ext>
                </a:extLst>
              </a:tr>
              <a:tr h="370840">
                <a:tc>
                  <a:txBody>
                    <a:bodyPr/>
                    <a:lstStyle/>
                    <a:p>
                      <a:r>
                        <a:rPr lang="en-IN" sz="1400" b="1" dirty="0"/>
                        <a:t>Performance</a:t>
                      </a:r>
                      <a:endParaRPr lang="en-IN" sz="1400" dirty="0">
                        <a:latin typeface="Manjari" panose="020B0604020202020204" charset="0"/>
                        <a:cs typeface="Manjari" panose="020B0604020202020204" charset="0"/>
                      </a:endParaRPr>
                    </a:p>
                  </a:txBody>
                  <a:tcPr anchor="ctr"/>
                </a:tc>
                <a:tc>
                  <a:txBody>
                    <a:bodyPr/>
                    <a:lstStyle/>
                    <a:p>
                      <a:r>
                        <a:rPr lang="en-IN" sz="1400"/>
                        <a:t>✅ Faster ⚡</a:t>
                      </a:r>
                      <a:endParaRPr lang="en-IN" sz="1400">
                        <a:latin typeface="Manjari" panose="020B0604020202020204" charset="0"/>
                        <a:cs typeface="Manjari" panose="020B0604020202020204" charset="0"/>
                      </a:endParaRPr>
                    </a:p>
                  </a:txBody>
                  <a:tcPr anchor="ctr"/>
                </a:tc>
                <a:tc>
                  <a:txBody>
                    <a:bodyPr/>
                    <a:lstStyle/>
                    <a:p>
                      <a:r>
                        <a:rPr lang="en-IN" sz="1400" dirty="0"/>
                        <a:t>❌ Slower 🐢</a:t>
                      </a:r>
                      <a:endParaRPr lang="en-IN" sz="1400" dirty="0">
                        <a:latin typeface="Manjari" panose="020B0604020202020204" charset="0"/>
                        <a:cs typeface="Manjari" panose="020B0604020202020204" charset="0"/>
                      </a:endParaRPr>
                    </a:p>
                  </a:txBody>
                  <a:tcPr anchor="ctr"/>
                </a:tc>
                <a:extLst>
                  <a:ext uri="{0D108BD9-81ED-4DB2-BD59-A6C34878D82A}">
                    <a16:rowId xmlns:a16="http://schemas.microsoft.com/office/drawing/2014/main" val="534182349"/>
                  </a:ext>
                </a:extLst>
              </a:tr>
              <a:tr h="370840">
                <a:tc>
                  <a:txBody>
                    <a:bodyPr/>
                    <a:lstStyle/>
                    <a:p>
                      <a:r>
                        <a:rPr lang="en-IN" sz="1400" b="1" dirty="0"/>
                        <a:t>Functionality</a:t>
                      </a:r>
                      <a:endParaRPr lang="en-IN" sz="1400" dirty="0">
                        <a:latin typeface="Manjari" panose="020B0604020202020204" charset="0"/>
                        <a:cs typeface="Manjari" panose="020B0604020202020204" charset="0"/>
                      </a:endParaRPr>
                    </a:p>
                  </a:txBody>
                  <a:tcPr anchor="ctr"/>
                </a:tc>
                <a:tc>
                  <a:txBody>
                    <a:bodyPr/>
                    <a:lstStyle/>
                    <a:p>
                      <a:r>
                        <a:rPr lang="en-IN" sz="1400" dirty="0"/>
                        <a:t>❌ Limited</a:t>
                      </a:r>
                      <a:endParaRPr lang="en-IN" sz="1400" dirty="0">
                        <a:latin typeface="Manjari" panose="020B0604020202020204" charset="0"/>
                        <a:cs typeface="Manjari" panose="020B0604020202020204" charset="0"/>
                      </a:endParaRPr>
                    </a:p>
                  </a:txBody>
                  <a:tcPr/>
                </a:tc>
                <a:tc>
                  <a:txBody>
                    <a:bodyPr/>
                    <a:lstStyle/>
                    <a:p>
                      <a:r>
                        <a:rPr lang="en-US" sz="1400" dirty="0"/>
                        <a:t>✅ More Powerful (can navigate backward)</a:t>
                      </a:r>
                      <a:endParaRPr lang="en-IN" sz="1400" dirty="0">
                        <a:latin typeface="Manjari" panose="020B0604020202020204" charset="0"/>
                        <a:cs typeface="Manjari" panose="020B0604020202020204" charset="0"/>
                      </a:endParaRPr>
                    </a:p>
                  </a:txBody>
                  <a:tcPr anchor="ctr"/>
                </a:tc>
                <a:extLst>
                  <a:ext uri="{0D108BD9-81ED-4DB2-BD59-A6C34878D82A}">
                    <a16:rowId xmlns:a16="http://schemas.microsoft.com/office/drawing/2014/main" val="3741298780"/>
                  </a:ext>
                </a:extLst>
              </a:tr>
            </a:tbl>
          </a:graphicData>
        </a:graphic>
      </p:graphicFrame>
    </p:spTree>
    <p:extLst>
      <p:ext uri="{BB962C8B-B14F-4D97-AF65-F5344CB8AC3E}">
        <p14:creationId xmlns:p14="http://schemas.microsoft.com/office/powerpoint/2010/main" val="1432327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0C16FD-BF09-A8DB-A952-15A3006F1AF6}"/>
              </a:ext>
            </a:extLst>
          </p:cNvPr>
          <p:cNvSpPr>
            <a:spLocks noGrp="1"/>
          </p:cNvSpPr>
          <p:nvPr>
            <p:ph type="title"/>
          </p:nvPr>
        </p:nvSpPr>
        <p:spPr/>
        <p:txBody>
          <a:bodyPr/>
          <a:lstStyle/>
          <a:p>
            <a:r>
              <a:rPr lang="en-US" dirty="0"/>
              <a:t>Example</a:t>
            </a:r>
            <a:endParaRPr lang="en-IN" dirty="0"/>
          </a:p>
        </p:txBody>
      </p:sp>
      <p:sp>
        <p:nvSpPr>
          <p:cNvPr id="4" name="Text Placeholder 1">
            <a:extLst>
              <a:ext uri="{FF2B5EF4-FFF2-40B4-BE49-F238E27FC236}">
                <a16:creationId xmlns:a16="http://schemas.microsoft.com/office/drawing/2014/main" id="{536E5A14-E984-5F19-8FAF-E4AF9C70874F}"/>
              </a:ext>
            </a:extLst>
          </p:cNvPr>
          <p:cNvSpPr>
            <a:spLocks noGrp="1"/>
          </p:cNvSpPr>
          <p:nvPr>
            <p:ph type="body" idx="1"/>
          </p:nvPr>
        </p:nvSpPr>
        <p:spPr>
          <a:xfrm>
            <a:off x="713250" y="1152475"/>
            <a:ext cx="7717500" cy="371525"/>
          </a:xfrm>
          <a:ln>
            <a:solidFill>
              <a:schemeClr val="accent2"/>
            </a:solidFill>
          </a:ln>
        </p:spPr>
        <p:txBody>
          <a:bodyPr/>
          <a:lstStyle/>
          <a:p>
            <a:pPr marL="152400" indent="0">
              <a:buNone/>
            </a:pPr>
            <a:r>
              <a:rPr lang="en-US" dirty="0"/>
              <a:t>📌 </a:t>
            </a:r>
            <a:r>
              <a:rPr lang="en-US" b="1" dirty="0"/>
              <a:t>CSS Selector</a:t>
            </a:r>
            <a:endParaRPr lang="en-IN" dirty="0"/>
          </a:p>
        </p:txBody>
      </p:sp>
      <p:sp>
        <p:nvSpPr>
          <p:cNvPr id="5" name="Rectangle 4">
            <a:extLst>
              <a:ext uri="{FF2B5EF4-FFF2-40B4-BE49-F238E27FC236}">
                <a16:creationId xmlns:a16="http://schemas.microsoft.com/office/drawing/2014/main" id="{9B9EC338-01CF-D3FD-2A08-F8EFCDB1AC75}"/>
              </a:ext>
            </a:extLst>
          </p:cNvPr>
          <p:cNvSpPr/>
          <p:nvPr/>
        </p:nvSpPr>
        <p:spPr>
          <a:xfrm>
            <a:off x="713250" y="1524000"/>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pPr>
            <a:r>
              <a:rPr lang="en-US" sz="1200" b="0" dirty="0">
                <a:solidFill>
                  <a:srgbClr val="9CDCFE"/>
                </a:solidFill>
                <a:effectLst/>
                <a:latin typeface="Consolas" panose="020B0609020204030204" pitchFamily="49" charset="0"/>
              </a:rPr>
              <a:t>response</a:t>
            </a:r>
            <a:r>
              <a:rPr lang="en-US" sz="1200" b="0" dirty="0">
                <a:solidFill>
                  <a:srgbClr val="CCCCCC"/>
                </a:solidFill>
                <a:effectLst/>
                <a:latin typeface="Consolas" panose="020B0609020204030204" pitchFamily="49" charset="0"/>
              </a:rPr>
              <a:t>.css(</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div.s</a:t>
            </a:r>
            <a:r>
              <a:rPr lang="en-US" sz="1200" b="0" dirty="0">
                <a:solidFill>
                  <a:srgbClr val="CE9178"/>
                </a:solidFill>
                <a:effectLst/>
                <a:latin typeface="Consolas" panose="020B0609020204030204" pitchFamily="49" charset="0"/>
              </a:rPr>
              <a:t>-title-instructions-style span::text'</a:t>
            </a:r>
            <a:r>
              <a:rPr lang="en-US" sz="1200" b="0" dirty="0">
                <a:solidFill>
                  <a:srgbClr val="CCCCCC"/>
                </a:solidFill>
                <a:effectLst/>
                <a:latin typeface="Consolas" panose="020B0609020204030204" pitchFamily="49" charset="0"/>
              </a:rPr>
              <a:t>).extract()</a:t>
            </a:r>
          </a:p>
        </p:txBody>
      </p:sp>
      <p:sp>
        <p:nvSpPr>
          <p:cNvPr id="6" name="Text Placeholder 1">
            <a:extLst>
              <a:ext uri="{FF2B5EF4-FFF2-40B4-BE49-F238E27FC236}">
                <a16:creationId xmlns:a16="http://schemas.microsoft.com/office/drawing/2014/main" id="{8AB26E0C-A7F6-087A-0953-5AA36DEA48AA}"/>
              </a:ext>
            </a:extLst>
          </p:cNvPr>
          <p:cNvSpPr txBox="1">
            <a:spLocks/>
          </p:cNvSpPr>
          <p:nvPr/>
        </p:nvSpPr>
        <p:spPr>
          <a:xfrm>
            <a:off x="713250" y="2014462"/>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None/>
            </a:pPr>
            <a:r>
              <a:rPr lang="en-US" dirty="0"/>
              <a:t>📌 </a:t>
            </a:r>
            <a:r>
              <a:rPr lang="en-US" b="1" dirty="0"/>
              <a:t>CSS Selector</a:t>
            </a:r>
            <a:endParaRPr lang="en-IN" dirty="0"/>
          </a:p>
        </p:txBody>
      </p:sp>
      <p:sp>
        <p:nvSpPr>
          <p:cNvPr id="7" name="Rectangle 6">
            <a:extLst>
              <a:ext uri="{FF2B5EF4-FFF2-40B4-BE49-F238E27FC236}">
                <a16:creationId xmlns:a16="http://schemas.microsoft.com/office/drawing/2014/main" id="{B7832B65-463B-FAB1-DD27-D830C4E8818A}"/>
              </a:ext>
            </a:extLst>
          </p:cNvPr>
          <p:cNvSpPr/>
          <p:nvPr/>
        </p:nvSpPr>
        <p:spPr>
          <a:xfrm>
            <a:off x="713250" y="2385987"/>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pPr>
            <a:r>
              <a:rPr lang="en-US" sz="1200" b="0" dirty="0">
                <a:solidFill>
                  <a:srgbClr val="9CDCFE"/>
                </a:solidFill>
                <a:effectLst/>
                <a:latin typeface="Consolas" panose="020B0609020204030204" pitchFamily="49" charset="0"/>
              </a:rPr>
              <a:t>response</a:t>
            </a:r>
            <a:r>
              <a:rPr lang="en-US" sz="1200" b="0" dirty="0">
                <a:solidFill>
                  <a:srgbClr val="CCCCCC"/>
                </a:solidFill>
                <a:effectLst/>
                <a:latin typeface="Consolas" panose="020B0609020204030204" pitchFamily="49" charset="0"/>
              </a:rPr>
              <a:t>.css(</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a.tag</a:t>
            </a:r>
            <a:r>
              <a:rPr lang="en-US" sz="1200" b="0" dirty="0">
                <a:solidFill>
                  <a:srgbClr val="CE9178"/>
                </a:solidFill>
                <a:effectLst/>
                <a:latin typeface="Consolas" panose="020B0609020204030204" pitchFamily="49" charset="0"/>
              </a:rPr>
              <a:t>::text'</a:t>
            </a:r>
            <a:r>
              <a:rPr lang="en-US" sz="1200" b="0" dirty="0">
                <a:solidFill>
                  <a:srgbClr val="CCCCCC"/>
                </a:solidFill>
                <a:effectLst/>
                <a:latin typeface="Consolas" panose="020B0609020204030204" pitchFamily="49" charset="0"/>
              </a:rPr>
              <a:t>).extract()</a:t>
            </a:r>
          </a:p>
        </p:txBody>
      </p:sp>
      <p:sp>
        <p:nvSpPr>
          <p:cNvPr id="15" name="Text Placeholder 1">
            <a:extLst>
              <a:ext uri="{FF2B5EF4-FFF2-40B4-BE49-F238E27FC236}">
                <a16:creationId xmlns:a16="http://schemas.microsoft.com/office/drawing/2014/main" id="{D78DAE49-DE84-EC82-8C35-5F838B411AA9}"/>
              </a:ext>
            </a:extLst>
          </p:cNvPr>
          <p:cNvSpPr txBox="1">
            <a:spLocks/>
          </p:cNvSpPr>
          <p:nvPr/>
        </p:nvSpPr>
        <p:spPr>
          <a:xfrm>
            <a:off x="713250" y="2876451"/>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None/>
            </a:pPr>
            <a:r>
              <a:rPr lang="en-US" dirty="0"/>
              <a:t>📌 </a:t>
            </a:r>
            <a:r>
              <a:rPr lang="en-US" b="1" dirty="0" err="1"/>
              <a:t>Xpath</a:t>
            </a:r>
            <a:r>
              <a:rPr lang="en-US" b="1" dirty="0"/>
              <a:t> Selector</a:t>
            </a:r>
            <a:endParaRPr lang="en-IN" dirty="0"/>
          </a:p>
          <a:p>
            <a:pPr marL="152400" indent="0">
              <a:buFont typeface="Manjari"/>
              <a:buNone/>
            </a:pPr>
            <a:endParaRPr lang="en-IN" dirty="0"/>
          </a:p>
        </p:txBody>
      </p:sp>
      <p:sp>
        <p:nvSpPr>
          <p:cNvPr id="16" name="Rectangle 15">
            <a:extLst>
              <a:ext uri="{FF2B5EF4-FFF2-40B4-BE49-F238E27FC236}">
                <a16:creationId xmlns:a16="http://schemas.microsoft.com/office/drawing/2014/main" id="{A2BA7D0E-7C77-66B0-CF91-4C57DED1FC3A}"/>
              </a:ext>
            </a:extLst>
          </p:cNvPr>
          <p:cNvSpPr/>
          <p:nvPr/>
        </p:nvSpPr>
        <p:spPr>
          <a:xfrm>
            <a:off x="713250" y="3247976"/>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pPr>
            <a:r>
              <a:rPr lang="en-IN" sz="1200" b="0" dirty="0" err="1">
                <a:solidFill>
                  <a:srgbClr val="9CDCFE"/>
                </a:solidFill>
                <a:effectLst/>
                <a:latin typeface="Consolas" panose="020B0609020204030204" pitchFamily="49" charset="0"/>
              </a:rPr>
              <a:t>response</a:t>
            </a:r>
            <a:r>
              <a:rPr lang="en-IN" sz="1200" b="0" dirty="0" err="1">
                <a:solidFill>
                  <a:srgbClr val="CCCCCC"/>
                </a:solidFill>
                <a:effectLst/>
                <a:latin typeface="Consolas" panose="020B0609020204030204" pitchFamily="49" charset="0"/>
              </a:rPr>
              <a:t>.xpath</a:t>
            </a:r>
            <a:r>
              <a:rPr lang="en-IN" sz="1200" b="0" dirty="0">
                <a:solidFill>
                  <a:srgbClr val="CCCCCC"/>
                </a:solidFill>
                <a:effectLst/>
                <a:latin typeface="Consolas" panose="020B0609020204030204" pitchFamily="49" charset="0"/>
              </a:rPr>
              <a:t>(</a:t>
            </a:r>
            <a:r>
              <a:rPr lang="en-IN" sz="1200" b="0" dirty="0">
                <a:solidFill>
                  <a:srgbClr val="CE9178"/>
                </a:solidFill>
                <a:effectLst/>
                <a:latin typeface="Consolas" panose="020B0609020204030204" pitchFamily="49" charset="0"/>
              </a:rPr>
              <a:t>"//div[@class=‘title’]/text()"</a:t>
            </a:r>
            <a:r>
              <a:rPr lang="en-IN" sz="1200" b="0" dirty="0">
                <a:solidFill>
                  <a:srgbClr val="CCCCCC"/>
                </a:solidFill>
                <a:effectLst/>
                <a:latin typeface="Consolas" panose="020B0609020204030204" pitchFamily="49" charset="0"/>
              </a:rPr>
              <a:t>).get()</a:t>
            </a:r>
          </a:p>
        </p:txBody>
      </p:sp>
      <p:sp>
        <p:nvSpPr>
          <p:cNvPr id="17" name="Text Placeholder 1">
            <a:extLst>
              <a:ext uri="{FF2B5EF4-FFF2-40B4-BE49-F238E27FC236}">
                <a16:creationId xmlns:a16="http://schemas.microsoft.com/office/drawing/2014/main" id="{255A3ACA-17D2-911F-2455-DCDBA5648F37}"/>
              </a:ext>
            </a:extLst>
          </p:cNvPr>
          <p:cNvSpPr txBox="1">
            <a:spLocks/>
          </p:cNvSpPr>
          <p:nvPr/>
        </p:nvSpPr>
        <p:spPr>
          <a:xfrm>
            <a:off x="713250" y="3738438"/>
            <a:ext cx="7717500" cy="371525"/>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Manjari"/>
              <a:buAutoNum type="arabicPeriod"/>
              <a:defRPr sz="1200" b="0" i="0" u="none" strike="noStrike" cap="none">
                <a:solidFill>
                  <a:schemeClr val="accent2"/>
                </a:solidFill>
                <a:latin typeface="Manjari"/>
                <a:ea typeface="Manjari"/>
                <a:cs typeface="Manjari"/>
                <a:sym typeface="Manjari"/>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accent2"/>
                </a:solidFill>
                <a:latin typeface="Manjari"/>
                <a:ea typeface="Manjari"/>
                <a:cs typeface="Manjari"/>
                <a:sym typeface="Manjari"/>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accent2"/>
                </a:solidFill>
                <a:latin typeface="Manjari"/>
                <a:ea typeface="Manjari"/>
                <a:cs typeface="Manjari"/>
                <a:sym typeface="Manjari"/>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accent2"/>
                </a:solidFill>
                <a:latin typeface="Manjari"/>
                <a:ea typeface="Manjari"/>
                <a:cs typeface="Manjari"/>
                <a:sym typeface="Manjari"/>
              </a:defRPr>
            </a:lvl9pPr>
          </a:lstStyle>
          <a:p>
            <a:pPr marL="152400" indent="0">
              <a:buFont typeface="Manjari"/>
              <a:buNone/>
            </a:pPr>
            <a:r>
              <a:rPr lang="en-US" dirty="0"/>
              <a:t>📌 </a:t>
            </a:r>
            <a:r>
              <a:rPr lang="en-US" b="1" dirty="0" err="1"/>
              <a:t>Xpath</a:t>
            </a:r>
            <a:r>
              <a:rPr lang="en-US" b="1" dirty="0"/>
              <a:t> Selector</a:t>
            </a:r>
            <a:endParaRPr lang="en-IN" dirty="0"/>
          </a:p>
        </p:txBody>
      </p:sp>
      <p:sp>
        <p:nvSpPr>
          <p:cNvPr id="18" name="Rectangle 17">
            <a:extLst>
              <a:ext uri="{FF2B5EF4-FFF2-40B4-BE49-F238E27FC236}">
                <a16:creationId xmlns:a16="http://schemas.microsoft.com/office/drawing/2014/main" id="{2B63B090-E515-7360-30E9-362913B0329B}"/>
              </a:ext>
            </a:extLst>
          </p:cNvPr>
          <p:cNvSpPr/>
          <p:nvPr/>
        </p:nvSpPr>
        <p:spPr>
          <a:xfrm>
            <a:off x="713250" y="4109963"/>
            <a:ext cx="7717500" cy="371525"/>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pPr>
            <a:r>
              <a:rPr lang="en-IN" sz="1200" b="0" dirty="0" err="1">
                <a:solidFill>
                  <a:srgbClr val="9CDCFE"/>
                </a:solidFill>
                <a:effectLst/>
                <a:latin typeface="Consolas" panose="020B0609020204030204" pitchFamily="49" charset="0"/>
              </a:rPr>
              <a:t>response</a:t>
            </a:r>
            <a:r>
              <a:rPr lang="en-IN" sz="1200" b="0" dirty="0" err="1">
                <a:solidFill>
                  <a:srgbClr val="CCCCCC"/>
                </a:solidFill>
                <a:effectLst/>
                <a:latin typeface="Consolas" panose="020B0609020204030204" pitchFamily="49" charset="0"/>
              </a:rPr>
              <a:t>.xpath</a:t>
            </a:r>
            <a:r>
              <a:rPr lang="en-IN" sz="1200" b="0" dirty="0">
                <a:solidFill>
                  <a:srgbClr val="CCCCCC"/>
                </a:solidFill>
                <a:effectLst/>
                <a:latin typeface="Consolas" panose="020B0609020204030204" pitchFamily="49" charset="0"/>
              </a:rPr>
              <a:t>(</a:t>
            </a:r>
            <a:r>
              <a:rPr lang="en-IN" sz="1200" b="0" dirty="0">
                <a:solidFill>
                  <a:srgbClr val="CE9178"/>
                </a:solidFill>
                <a:effectLst/>
                <a:latin typeface="Consolas" panose="020B0609020204030204" pitchFamily="49" charset="0"/>
              </a:rPr>
              <a:t>"//div[@class='s-title-instructions-style']//span/text()"</a:t>
            </a:r>
            <a:r>
              <a:rPr lang="en-IN" sz="1200" b="0" dirty="0">
                <a:solidFill>
                  <a:srgbClr val="CCCCCC"/>
                </a:solidFill>
                <a:effectLst/>
                <a:latin typeface="Consolas" panose="020B0609020204030204" pitchFamily="49" charset="0"/>
              </a:rPr>
              <a:t>).get()</a:t>
            </a:r>
          </a:p>
        </p:txBody>
      </p:sp>
    </p:spTree>
    <p:extLst>
      <p:ext uri="{BB962C8B-B14F-4D97-AF65-F5344CB8AC3E}">
        <p14:creationId xmlns:p14="http://schemas.microsoft.com/office/powerpoint/2010/main" val="3327685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74647-3477-CB23-2FA6-7076AB2DDB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EE09CC-CE89-9C81-CB62-840EA6CC6877}"/>
              </a:ext>
            </a:extLst>
          </p:cNvPr>
          <p:cNvSpPr>
            <a:spLocks noGrp="1"/>
          </p:cNvSpPr>
          <p:nvPr>
            <p:ph type="title" idx="2"/>
          </p:nvPr>
        </p:nvSpPr>
        <p:spPr>
          <a:xfrm>
            <a:off x="1467593" y="1964850"/>
            <a:ext cx="6092700" cy="1213800"/>
          </a:xfrm>
        </p:spPr>
        <p:txBody>
          <a:bodyPr/>
          <a:lstStyle/>
          <a:p>
            <a:r>
              <a:rPr lang="en-US" dirty="0">
                <a:solidFill>
                  <a:schemeClr val="bg1">
                    <a:lumMod val="10000"/>
                  </a:schemeClr>
                </a:solidFill>
              </a:rPr>
              <a:t>Item &amp; Pipeline</a:t>
            </a:r>
            <a:endParaRPr lang="en-IN" dirty="0"/>
          </a:p>
        </p:txBody>
      </p:sp>
    </p:spTree>
    <p:extLst>
      <p:ext uri="{BB962C8B-B14F-4D97-AF65-F5344CB8AC3E}">
        <p14:creationId xmlns:p14="http://schemas.microsoft.com/office/powerpoint/2010/main" val="113795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8653C2-AD94-9591-3752-F5A29244100E}"/>
              </a:ext>
            </a:extLst>
          </p:cNvPr>
          <p:cNvSpPr>
            <a:spLocks noGrp="1"/>
          </p:cNvSpPr>
          <p:nvPr>
            <p:ph type="body" idx="1"/>
          </p:nvPr>
        </p:nvSpPr>
        <p:spPr>
          <a:xfrm>
            <a:off x="713250" y="1064525"/>
            <a:ext cx="7717500" cy="1582720"/>
          </a:xfrm>
        </p:spPr>
        <p:txBody>
          <a:bodyPr/>
          <a:lstStyle/>
          <a:p>
            <a:pPr>
              <a:buNone/>
            </a:pPr>
            <a:r>
              <a:rPr lang="en-US" b="1" dirty="0"/>
              <a:t>📦 </a:t>
            </a:r>
            <a:r>
              <a:rPr lang="en-US" dirty="0"/>
              <a:t>A structured way to define and store the scraped data. The main goal in scraping is to extract structured data from unstructured sources, typically, web pages. Spiders may return the extracted data as items, Python objects that define key-value pairs.</a:t>
            </a:r>
          </a:p>
          <a:p>
            <a:pPr marL="152400" indent="0">
              <a:buNone/>
            </a:pPr>
            <a:endParaRPr lang="en-IN" dirty="0"/>
          </a:p>
          <a:p>
            <a:pPr>
              <a:buNone/>
            </a:pPr>
            <a:r>
              <a:rPr lang="en-US" b="1" dirty="0"/>
              <a:t>🧩 Used For:</a:t>
            </a:r>
          </a:p>
          <a:p>
            <a:pPr>
              <a:buFont typeface="Arial" panose="020B0604020202020204" pitchFamily="34" charset="0"/>
              <a:buChar char="•"/>
            </a:pPr>
            <a:r>
              <a:rPr lang="en-US" dirty="0"/>
              <a:t>Defining the fields you want to extract</a:t>
            </a:r>
          </a:p>
          <a:p>
            <a:pPr>
              <a:buFont typeface="Arial" panose="020B0604020202020204" pitchFamily="34" charset="0"/>
              <a:buChar char="•"/>
            </a:pPr>
            <a:r>
              <a:rPr lang="en-US" dirty="0"/>
              <a:t>Acting as a temporary holder for data (like a blueprint for your data fields)</a:t>
            </a:r>
          </a:p>
          <a:p>
            <a:pPr>
              <a:buFont typeface="Arial" panose="020B0604020202020204" pitchFamily="34" charset="0"/>
              <a:buChar char="•"/>
            </a:pPr>
            <a:r>
              <a:rPr lang="en-US" dirty="0"/>
              <a:t>Passing clean, structured data to pipelines</a:t>
            </a:r>
          </a:p>
          <a:p>
            <a:pPr marL="152400" indent="0">
              <a:buNone/>
            </a:pPr>
            <a:endParaRPr lang="en-IN" dirty="0"/>
          </a:p>
          <a:p>
            <a:pPr marL="152400" indent="0">
              <a:buNone/>
            </a:pPr>
            <a:endParaRPr lang="en-IN" dirty="0"/>
          </a:p>
        </p:txBody>
      </p:sp>
      <p:sp>
        <p:nvSpPr>
          <p:cNvPr id="3" name="Title 2">
            <a:extLst>
              <a:ext uri="{FF2B5EF4-FFF2-40B4-BE49-F238E27FC236}">
                <a16:creationId xmlns:a16="http://schemas.microsoft.com/office/drawing/2014/main" id="{64F45922-C588-E849-A33E-9F6D65170EA0}"/>
              </a:ext>
            </a:extLst>
          </p:cNvPr>
          <p:cNvSpPr>
            <a:spLocks noGrp="1"/>
          </p:cNvSpPr>
          <p:nvPr>
            <p:ph type="title"/>
          </p:nvPr>
        </p:nvSpPr>
        <p:spPr/>
        <p:txBody>
          <a:bodyPr/>
          <a:lstStyle/>
          <a:p>
            <a:r>
              <a:rPr lang="en-US" dirty="0"/>
              <a:t>Item Container</a:t>
            </a:r>
            <a:endParaRPr lang="en-IN" dirty="0"/>
          </a:p>
        </p:txBody>
      </p:sp>
      <p:sp>
        <p:nvSpPr>
          <p:cNvPr id="4" name="Rectangle 3">
            <a:extLst>
              <a:ext uri="{FF2B5EF4-FFF2-40B4-BE49-F238E27FC236}">
                <a16:creationId xmlns:a16="http://schemas.microsoft.com/office/drawing/2014/main" id="{8786579C-7B0C-9F41-2954-CAA591C4D10F}"/>
              </a:ext>
            </a:extLst>
          </p:cNvPr>
          <p:cNvSpPr/>
          <p:nvPr/>
        </p:nvSpPr>
        <p:spPr>
          <a:xfrm>
            <a:off x="713250" y="2838846"/>
            <a:ext cx="7717500" cy="1582720"/>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IN" sz="1200" b="0">
                <a:solidFill>
                  <a:srgbClr val="C586C0"/>
                </a:solidFill>
                <a:effectLst/>
                <a:latin typeface="Consolas" panose="020B0609020204030204" pitchFamily="49" charset="0"/>
              </a:rPr>
              <a:t>import</a:t>
            </a:r>
            <a:r>
              <a:rPr lang="en-IN" sz="1200" b="0">
                <a:solidFill>
                  <a:srgbClr val="CCCCCC"/>
                </a:solidFill>
                <a:effectLst/>
                <a:latin typeface="Consolas" panose="020B0609020204030204" pitchFamily="49" charset="0"/>
              </a:rPr>
              <a:t> </a:t>
            </a:r>
            <a:r>
              <a:rPr lang="en-IN" sz="1200" b="0">
                <a:solidFill>
                  <a:srgbClr val="4EC9B0"/>
                </a:solidFill>
                <a:effectLst/>
                <a:latin typeface="Consolas" panose="020B0609020204030204" pitchFamily="49" charset="0"/>
              </a:rPr>
              <a:t>scrapy</a:t>
            </a:r>
            <a:endParaRPr lang="en-IN" sz="1200" b="0">
              <a:solidFill>
                <a:srgbClr val="CCCCCC"/>
              </a:solidFill>
              <a:effectLst/>
              <a:latin typeface="Consolas" panose="020B0609020204030204" pitchFamily="49" charset="0"/>
            </a:endParaRPr>
          </a:p>
          <a:p>
            <a:pPr>
              <a:lnSpc>
                <a:spcPts val="1425"/>
              </a:lnSpc>
              <a:buNone/>
            </a:pPr>
            <a:br>
              <a:rPr lang="en-IN" sz="1200" b="0">
                <a:solidFill>
                  <a:srgbClr val="CCCCCC"/>
                </a:solidFill>
                <a:effectLst/>
                <a:latin typeface="Consolas" panose="020B0609020204030204" pitchFamily="49" charset="0"/>
              </a:rPr>
            </a:br>
            <a:br>
              <a:rPr lang="en-IN" sz="1200" b="0">
                <a:solidFill>
                  <a:srgbClr val="CCCCCC"/>
                </a:solidFill>
                <a:effectLst/>
                <a:latin typeface="Consolas" panose="020B0609020204030204" pitchFamily="49" charset="0"/>
              </a:rPr>
            </a:br>
            <a:r>
              <a:rPr lang="en-IN" sz="1200" b="0">
                <a:solidFill>
                  <a:srgbClr val="569CD6"/>
                </a:solidFill>
                <a:effectLst/>
                <a:latin typeface="Consolas" panose="020B0609020204030204" pitchFamily="49" charset="0"/>
              </a:rPr>
              <a:t>class</a:t>
            </a:r>
            <a:r>
              <a:rPr lang="en-IN" sz="1200" b="0">
                <a:solidFill>
                  <a:srgbClr val="CCCCCC"/>
                </a:solidFill>
                <a:effectLst/>
                <a:latin typeface="Consolas" panose="020B0609020204030204" pitchFamily="49" charset="0"/>
              </a:rPr>
              <a:t> </a:t>
            </a:r>
            <a:r>
              <a:rPr lang="en-IN" sz="1200" b="0">
                <a:solidFill>
                  <a:srgbClr val="4EC9B0"/>
                </a:solidFill>
                <a:effectLst/>
                <a:latin typeface="Consolas" panose="020B0609020204030204" pitchFamily="49" charset="0"/>
              </a:rPr>
              <a:t>QuotetutorialItem</a:t>
            </a:r>
            <a:r>
              <a:rPr lang="en-IN" sz="1200" b="0">
                <a:solidFill>
                  <a:srgbClr val="CCCCCC"/>
                </a:solidFill>
                <a:effectLst/>
                <a:latin typeface="Consolas" panose="020B0609020204030204" pitchFamily="49" charset="0"/>
              </a:rPr>
              <a:t>(</a:t>
            </a:r>
            <a:r>
              <a:rPr lang="en-IN" sz="1200" b="0">
                <a:solidFill>
                  <a:srgbClr val="4EC9B0"/>
                </a:solidFill>
                <a:effectLst/>
                <a:latin typeface="Consolas" panose="020B0609020204030204" pitchFamily="49" charset="0"/>
              </a:rPr>
              <a:t>scrapy</a:t>
            </a:r>
            <a:r>
              <a:rPr lang="en-IN" sz="1200" b="0">
                <a:solidFill>
                  <a:srgbClr val="CCCCCC"/>
                </a:solidFill>
                <a:effectLst/>
                <a:latin typeface="Consolas" panose="020B0609020204030204" pitchFamily="49" charset="0"/>
              </a:rPr>
              <a:t>.</a:t>
            </a:r>
            <a:r>
              <a:rPr lang="en-IN" sz="1200" b="0">
                <a:solidFill>
                  <a:srgbClr val="4EC9B0"/>
                </a:solidFill>
                <a:effectLst/>
                <a:latin typeface="Consolas" panose="020B0609020204030204" pitchFamily="49" charset="0"/>
              </a:rPr>
              <a:t>Item</a:t>
            </a:r>
            <a:r>
              <a:rPr lang="en-IN" sz="1200" b="0">
                <a:solidFill>
                  <a:srgbClr val="CCCCCC"/>
                </a:solidFill>
                <a:effectLst/>
                <a:latin typeface="Consolas" panose="020B0609020204030204" pitchFamily="49" charset="0"/>
              </a:rPr>
              <a:t>):</a:t>
            </a:r>
          </a:p>
          <a:p>
            <a:pPr>
              <a:lnSpc>
                <a:spcPts val="1425"/>
              </a:lnSpc>
              <a:buNone/>
            </a:pPr>
            <a:r>
              <a:rPr lang="en-IN" sz="1200" b="0">
                <a:solidFill>
                  <a:srgbClr val="CCCCCC"/>
                </a:solidFill>
                <a:effectLst/>
                <a:latin typeface="Consolas" panose="020B0609020204030204" pitchFamily="49" charset="0"/>
              </a:rPr>
              <a:t>    </a:t>
            </a:r>
            <a:r>
              <a:rPr lang="en-IN" sz="1200" b="0">
                <a:solidFill>
                  <a:srgbClr val="6A9955"/>
                </a:solidFill>
                <a:effectLst/>
                <a:latin typeface="Consolas" panose="020B0609020204030204" pitchFamily="49" charset="0"/>
              </a:rPr>
              <a:t># define the fields for your item here like:</a:t>
            </a:r>
            <a:endParaRPr lang="en-IN" sz="1200" b="0">
              <a:solidFill>
                <a:srgbClr val="CCCCCC"/>
              </a:solidFill>
              <a:effectLst/>
              <a:latin typeface="Consolas" panose="020B0609020204030204" pitchFamily="49" charset="0"/>
            </a:endParaRPr>
          </a:p>
          <a:p>
            <a:pPr>
              <a:lnSpc>
                <a:spcPts val="1425"/>
              </a:lnSpc>
              <a:buNone/>
            </a:pPr>
            <a:r>
              <a:rPr lang="en-IN" sz="1200" b="0">
                <a:solidFill>
                  <a:srgbClr val="CCCCCC"/>
                </a:solidFill>
                <a:effectLst/>
                <a:latin typeface="Consolas" panose="020B0609020204030204" pitchFamily="49" charset="0"/>
              </a:rPr>
              <a:t>    </a:t>
            </a:r>
            <a:r>
              <a:rPr lang="en-IN" sz="1200" b="0">
                <a:solidFill>
                  <a:srgbClr val="9CDCFE"/>
                </a:solidFill>
                <a:effectLst/>
                <a:latin typeface="Consolas" panose="020B0609020204030204" pitchFamily="49" charset="0"/>
              </a:rPr>
              <a:t>title</a:t>
            </a:r>
            <a:r>
              <a:rPr lang="en-IN" sz="1200" b="0">
                <a:solidFill>
                  <a:srgbClr val="CCCCCC"/>
                </a:solidFill>
                <a:effectLst/>
                <a:latin typeface="Consolas" panose="020B0609020204030204" pitchFamily="49" charset="0"/>
              </a:rPr>
              <a:t> </a:t>
            </a:r>
            <a:r>
              <a:rPr lang="en-IN" sz="1200" b="0">
                <a:solidFill>
                  <a:srgbClr val="D4D4D4"/>
                </a:solidFill>
                <a:effectLst/>
                <a:latin typeface="Consolas" panose="020B0609020204030204" pitchFamily="49" charset="0"/>
              </a:rPr>
              <a:t>=</a:t>
            </a:r>
            <a:r>
              <a:rPr lang="en-IN" sz="1200" b="0">
                <a:solidFill>
                  <a:srgbClr val="CCCCCC"/>
                </a:solidFill>
                <a:effectLst/>
                <a:latin typeface="Consolas" panose="020B0609020204030204" pitchFamily="49" charset="0"/>
              </a:rPr>
              <a:t> </a:t>
            </a:r>
            <a:r>
              <a:rPr lang="en-IN" sz="1200" b="0">
                <a:solidFill>
                  <a:srgbClr val="4EC9B0"/>
                </a:solidFill>
                <a:effectLst/>
                <a:latin typeface="Consolas" panose="020B0609020204030204" pitchFamily="49" charset="0"/>
              </a:rPr>
              <a:t>scrapy</a:t>
            </a:r>
            <a:r>
              <a:rPr lang="en-IN" sz="1200" b="0">
                <a:solidFill>
                  <a:srgbClr val="CCCCCC"/>
                </a:solidFill>
                <a:effectLst/>
                <a:latin typeface="Consolas" panose="020B0609020204030204" pitchFamily="49" charset="0"/>
              </a:rPr>
              <a:t>.</a:t>
            </a:r>
            <a:r>
              <a:rPr lang="en-IN" sz="1200" b="0">
                <a:solidFill>
                  <a:srgbClr val="4EC9B0"/>
                </a:solidFill>
                <a:effectLst/>
                <a:latin typeface="Consolas" panose="020B0609020204030204" pitchFamily="49" charset="0"/>
              </a:rPr>
              <a:t>Field</a:t>
            </a:r>
            <a:r>
              <a:rPr lang="en-IN" sz="1200" b="0">
                <a:solidFill>
                  <a:srgbClr val="CCCCCC"/>
                </a:solidFill>
                <a:effectLst/>
                <a:latin typeface="Consolas" panose="020B0609020204030204" pitchFamily="49" charset="0"/>
              </a:rPr>
              <a:t>()</a:t>
            </a:r>
          </a:p>
          <a:p>
            <a:pPr>
              <a:lnSpc>
                <a:spcPts val="1425"/>
              </a:lnSpc>
              <a:buNone/>
            </a:pPr>
            <a:r>
              <a:rPr lang="en-IN" sz="1200" b="0">
                <a:solidFill>
                  <a:srgbClr val="CCCCCC"/>
                </a:solidFill>
                <a:effectLst/>
                <a:latin typeface="Consolas" panose="020B0609020204030204" pitchFamily="49" charset="0"/>
              </a:rPr>
              <a:t>    </a:t>
            </a:r>
            <a:r>
              <a:rPr lang="en-IN" sz="1200" b="0">
                <a:solidFill>
                  <a:srgbClr val="9CDCFE"/>
                </a:solidFill>
                <a:effectLst/>
                <a:latin typeface="Consolas" panose="020B0609020204030204" pitchFamily="49" charset="0"/>
              </a:rPr>
              <a:t>author</a:t>
            </a:r>
            <a:r>
              <a:rPr lang="en-IN" sz="1200" b="0">
                <a:solidFill>
                  <a:srgbClr val="CCCCCC"/>
                </a:solidFill>
                <a:effectLst/>
                <a:latin typeface="Consolas" panose="020B0609020204030204" pitchFamily="49" charset="0"/>
              </a:rPr>
              <a:t> </a:t>
            </a:r>
            <a:r>
              <a:rPr lang="en-IN" sz="1200" b="0">
                <a:solidFill>
                  <a:srgbClr val="D4D4D4"/>
                </a:solidFill>
                <a:effectLst/>
                <a:latin typeface="Consolas" panose="020B0609020204030204" pitchFamily="49" charset="0"/>
              </a:rPr>
              <a:t>=</a:t>
            </a:r>
            <a:r>
              <a:rPr lang="en-IN" sz="1200" b="0">
                <a:solidFill>
                  <a:srgbClr val="CCCCCC"/>
                </a:solidFill>
                <a:effectLst/>
                <a:latin typeface="Consolas" panose="020B0609020204030204" pitchFamily="49" charset="0"/>
              </a:rPr>
              <a:t> </a:t>
            </a:r>
            <a:r>
              <a:rPr lang="en-IN" sz="1200" b="0">
                <a:solidFill>
                  <a:srgbClr val="4EC9B0"/>
                </a:solidFill>
                <a:effectLst/>
                <a:latin typeface="Consolas" panose="020B0609020204030204" pitchFamily="49" charset="0"/>
              </a:rPr>
              <a:t>scrapy</a:t>
            </a:r>
            <a:r>
              <a:rPr lang="en-IN" sz="1200" b="0">
                <a:solidFill>
                  <a:srgbClr val="CCCCCC"/>
                </a:solidFill>
                <a:effectLst/>
                <a:latin typeface="Consolas" panose="020B0609020204030204" pitchFamily="49" charset="0"/>
              </a:rPr>
              <a:t>.</a:t>
            </a:r>
            <a:r>
              <a:rPr lang="en-IN" sz="1200" b="0">
                <a:solidFill>
                  <a:srgbClr val="4EC9B0"/>
                </a:solidFill>
                <a:effectLst/>
                <a:latin typeface="Consolas" panose="020B0609020204030204" pitchFamily="49" charset="0"/>
              </a:rPr>
              <a:t>Field</a:t>
            </a:r>
            <a:r>
              <a:rPr lang="en-IN" sz="1200" b="0">
                <a:solidFill>
                  <a:srgbClr val="CCCCCC"/>
                </a:solidFill>
                <a:effectLst/>
                <a:latin typeface="Consolas" panose="020B0609020204030204" pitchFamily="49" charset="0"/>
              </a:rPr>
              <a:t>()</a:t>
            </a:r>
          </a:p>
          <a:p>
            <a:pPr>
              <a:lnSpc>
                <a:spcPts val="1425"/>
              </a:lnSpc>
            </a:pPr>
            <a:r>
              <a:rPr lang="en-IN" sz="1200" b="0">
                <a:solidFill>
                  <a:srgbClr val="CCCCCC"/>
                </a:solidFill>
                <a:effectLst/>
                <a:latin typeface="Consolas" panose="020B0609020204030204" pitchFamily="49" charset="0"/>
              </a:rPr>
              <a:t>    </a:t>
            </a:r>
            <a:r>
              <a:rPr lang="en-IN" sz="1200" b="0">
                <a:solidFill>
                  <a:srgbClr val="9CDCFE"/>
                </a:solidFill>
                <a:effectLst/>
                <a:latin typeface="Consolas" panose="020B0609020204030204" pitchFamily="49" charset="0"/>
              </a:rPr>
              <a:t>tags</a:t>
            </a:r>
            <a:r>
              <a:rPr lang="en-IN" sz="1200" b="0">
                <a:solidFill>
                  <a:srgbClr val="CCCCCC"/>
                </a:solidFill>
                <a:effectLst/>
                <a:latin typeface="Consolas" panose="020B0609020204030204" pitchFamily="49" charset="0"/>
              </a:rPr>
              <a:t> </a:t>
            </a:r>
            <a:r>
              <a:rPr lang="en-IN" sz="1200" b="0">
                <a:solidFill>
                  <a:srgbClr val="D4D4D4"/>
                </a:solidFill>
                <a:effectLst/>
                <a:latin typeface="Consolas" panose="020B0609020204030204" pitchFamily="49" charset="0"/>
              </a:rPr>
              <a:t>=</a:t>
            </a:r>
            <a:r>
              <a:rPr lang="en-IN" sz="1200" b="0">
                <a:solidFill>
                  <a:srgbClr val="CCCCCC"/>
                </a:solidFill>
                <a:effectLst/>
                <a:latin typeface="Consolas" panose="020B0609020204030204" pitchFamily="49" charset="0"/>
              </a:rPr>
              <a:t> </a:t>
            </a:r>
            <a:r>
              <a:rPr lang="en-IN" sz="1200" b="0">
                <a:solidFill>
                  <a:srgbClr val="4EC9B0"/>
                </a:solidFill>
                <a:effectLst/>
                <a:latin typeface="Consolas" panose="020B0609020204030204" pitchFamily="49" charset="0"/>
              </a:rPr>
              <a:t>scrapy</a:t>
            </a:r>
            <a:r>
              <a:rPr lang="en-IN" sz="1200" b="0">
                <a:solidFill>
                  <a:srgbClr val="CCCCCC"/>
                </a:solidFill>
                <a:effectLst/>
                <a:latin typeface="Consolas" panose="020B0609020204030204" pitchFamily="49" charset="0"/>
              </a:rPr>
              <a:t>.</a:t>
            </a:r>
            <a:r>
              <a:rPr lang="en-IN" sz="1200" b="0">
                <a:solidFill>
                  <a:srgbClr val="4EC9B0"/>
                </a:solidFill>
                <a:effectLst/>
                <a:latin typeface="Consolas" panose="020B0609020204030204" pitchFamily="49" charset="0"/>
              </a:rPr>
              <a:t>Field</a:t>
            </a:r>
            <a:r>
              <a:rPr lang="en-IN" sz="1200" b="0">
                <a:solidFill>
                  <a:srgbClr val="CCCCCC"/>
                </a:solidFill>
                <a:effectLst/>
                <a:latin typeface="Consolas" panose="020B0609020204030204" pitchFamily="49" charset="0"/>
              </a:rPr>
              <a:t>()</a:t>
            </a:r>
            <a:endParaRPr lang="en-IN" sz="12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702423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02A9DC-2F98-35BD-23E2-2027993F47DE}"/>
              </a:ext>
            </a:extLst>
          </p:cNvPr>
          <p:cNvSpPr>
            <a:spLocks noGrp="1"/>
          </p:cNvSpPr>
          <p:nvPr>
            <p:ph type="body" idx="1"/>
          </p:nvPr>
        </p:nvSpPr>
        <p:spPr/>
        <p:txBody>
          <a:bodyPr/>
          <a:lstStyle/>
          <a:p>
            <a:pPr>
              <a:buNone/>
            </a:pPr>
            <a:r>
              <a:rPr lang="en-US" b="1" dirty="0"/>
              <a:t>🔄 What is a Pipeline?</a:t>
            </a:r>
          </a:p>
          <a:p>
            <a:pPr>
              <a:buFont typeface="Arial" panose="020B0604020202020204" pitchFamily="34" charset="0"/>
              <a:buChar char="•"/>
            </a:pPr>
            <a:r>
              <a:rPr lang="en-US" dirty="0"/>
              <a:t>A </a:t>
            </a:r>
            <a:r>
              <a:rPr lang="en-US" b="1" dirty="0"/>
              <a:t>Pipeline</a:t>
            </a:r>
            <a:r>
              <a:rPr lang="en-US" dirty="0"/>
              <a:t> is a series of </a:t>
            </a:r>
            <a:r>
              <a:rPr lang="en-US" b="1" dirty="0"/>
              <a:t>processing steps</a:t>
            </a:r>
            <a:r>
              <a:rPr lang="en-US" dirty="0"/>
              <a:t> that are applied to every item scraped by the spider.</a:t>
            </a:r>
          </a:p>
          <a:p>
            <a:pPr>
              <a:buFont typeface="Arial" panose="020B0604020202020204" pitchFamily="34" charset="0"/>
              <a:buChar char="•"/>
            </a:pPr>
            <a:r>
              <a:rPr lang="en-US" dirty="0"/>
              <a:t>It handles </a:t>
            </a:r>
            <a:r>
              <a:rPr lang="en-US" b="1" dirty="0"/>
              <a:t>cleaning</a:t>
            </a:r>
            <a:r>
              <a:rPr lang="en-US" dirty="0"/>
              <a:t>, </a:t>
            </a:r>
            <a:r>
              <a:rPr lang="en-US" b="1" dirty="0"/>
              <a:t>validation</a:t>
            </a:r>
            <a:r>
              <a:rPr lang="en-US" dirty="0"/>
              <a:t>, </a:t>
            </a:r>
            <a:r>
              <a:rPr lang="en-US" b="1" dirty="0"/>
              <a:t>transformation</a:t>
            </a:r>
            <a:r>
              <a:rPr lang="en-US" dirty="0"/>
              <a:t>, and </a:t>
            </a:r>
            <a:r>
              <a:rPr lang="en-US" b="1" dirty="0"/>
              <a:t>storage</a:t>
            </a:r>
            <a:r>
              <a:rPr lang="en-US" dirty="0"/>
              <a:t> of data.</a:t>
            </a:r>
          </a:p>
          <a:p>
            <a:pPr marL="152400" indent="0">
              <a:buNone/>
            </a:pPr>
            <a:endParaRPr lang="en-US" dirty="0"/>
          </a:p>
          <a:p>
            <a:pPr>
              <a:buNone/>
            </a:pPr>
            <a:r>
              <a:rPr lang="en-IN" b="1" dirty="0"/>
              <a:t>⚙️ Common Tasks in Pipelines:</a:t>
            </a:r>
          </a:p>
          <a:p>
            <a:pPr>
              <a:buFont typeface="Arial" panose="020B0604020202020204" pitchFamily="34" charset="0"/>
              <a:buChar char="•"/>
            </a:pPr>
            <a:r>
              <a:rPr lang="en-IN" dirty="0"/>
              <a:t>✅ Data Cleaning</a:t>
            </a:r>
          </a:p>
          <a:p>
            <a:pPr>
              <a:buFont typeface="Arial" panose="020B0604020202020204" pitchFamily="34" charset="0"/>
              <a:buChar char="•"/>
            </a:pPr>
            <a:r>
              <a:rPr lang="en-IN" dirty="0"/>
              <a:t>✅ Removing duplicates</a:t>
            </a:r>
          </a:p>
          <a:p>
            <a:pPr>
              <a:buFont typeface="Arial" panose="020B0604020202020204" pitchFamily="34" charset="0"/>
              <a:buChar char="•"/>
            </a:pPr>
            <a:r>
              <a:rPr lang="en-IN" dirty="0"/>
              <a:t>✅ Field formatting (e.g., dates, prices)</a:t>
            </a:r>
          </a:p>
          <a:p>
            <a:pPr>
              <a:buFont typeface="Arial" panose="020B0604020202020204" pitchFamily="34" charset="0"/>
              <a:buChar char="•"/>
            </a:pPr>
            <a:r>
              <a:rPr lang="en-IN" dirty="0"/>
              <a:t>✅ Saving to databases like MySQL, MongoDB</a:t>
            </a:r>
          </a:p>
          <a:p>
            <a:pPr>
              <a:buFont typeface="Arial" panose="020B0604020202020204" pitchFamily="34" charset="0"/>
              <a:buChar char="•"/>
            </a:pPr>
            <a:r>
              <a:rPr lang="en-IN" dirty="0"/>
              <a:t>✅ Exporting to CSV, JSON, etc.</a:t>
            </a:r>
          </a:p>
          <a:p>
            <a:pPr marL="152400" indent="0">
              <a:buNone/>
            </a:pPr>
            <a:endParaRPr lang="en-IN" dirty="0"/>
          </a:p>
        </p:txBody>
      </p:sp>
      <p:sp>
        <p:nvSpPr>
          <p:cNvPr id="3" name="Title 2">
            <a:extLst>
              <a:ext uri="{FF2B5EF4-FFF2-40B4-BE49-F238E27FC236}">
                <a16:creationId xmlns:a16="http://schemas.microsoft.com/office/drawing/2014/main" id="{AE28CF77-83CF-15C8-732F-3F514DF6649F}"/>
              </a:ext>
            </a:extLst>
          </p:cNvPr>
          <p:cNvSpPr>
            <a:spLocks noGrp="1"/>
          </p:cNvSpPr>
          <p:nvPr>
            <p:ph type="title"/>
          </p:nvPr>
        </p:nvSpPr>
        <p:spPr/>
        <p:txBody>
          <a:bodyPr/>
          <a:lstStyle/>
          <a:p>
            <a:r>
              <a:rPr lang="en-US" dirty="0"/>
              <a:t>Pipeline</a:t>
            </a:r>
            <a:endParaRPr lang="en-IN" dirty="0"/>
          </a:p>
        </p:txBody>
      </p:sp>
      <p:sp>
        <p:nvSpPr>
          <p:cNvPr id="4" name="Rectangle 3">
            <a:extLst>
              <a:ext uri="{FF2B5EF4-FFF2-40B4-BE49-F238E27FC236}">
                <a16:creationId xmlns:a16="http://schemas.microsoft.com/office/drawing/2014/main" id="{5AE433D2-8804-6D1C-DBB3-918132CE7F34}"/>
              </a:ext>
            </a:extLst>
          </p:cNvPr>
          <p:cNvSpPr/>
          <p:nvPr/>
        </p:nvSpPr>
        <p:spPr>
          <a:xfrm>
            <a:off x="713250" y="3410857"/>
            <a:ext cx="7717500" cy="885371"/>
          </a:xfrm>
          <a:prstGeom prst="rect">
            <a:avLst/>
          </a:prstGeom>
          <a:solidFill>
            <a:schemeClr val="bg1">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1200" b="0" dirty="0">
                <a:solidFill>
                  <a:srgbClr val="569CD6"/>
                </a:solidFill>
                <a:effectLst/>
                <a:latin typeface="Consolas" panose="020B0609020204030204" pitchFamily="49" charset="0"/>
              </a:rPr>
              <a:t>class</a:t>
            </a:r>
            <a:r>
              <a:rPr lang="en-US" sz="1200" b="0" dirty="0">
                <a:solidFill>
                  <a:srgbClr val="CCCCCC"/>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MyPipeline</a:t>
            </a:r>
            <a:r>
              <a:rPr lang="en-US" sz="1200" b="0" dirty="0">
                <a:solidFill>
                  <a:srgbClr val="CCCCCC"/>
                </a:solidFill>
                <a:effectLst/>
                <a:latin typeface="Consolas" panose="020B0609020204030204" pitchFamily="49" charset="0"/>
              </a:rPr>
              <a:t>:</a:t>
            </a:r>
          </a:p>
          <a:p>
            <a:pPr>
              <a:lnSpc>
                <a:spcPts val="1425"/>
              </a:lnSpc>
              <a:buNone/>
            </a:pP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def</a:t>
            </a:r>
            <a:r>
              <a:rPr lang="en-US" sz="1200" b="0" dirty="0">
                <a:solidFill>
                  <a:srgbClr val="CCCCCC"/>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process_item</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self</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item</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spider</a:t>
            </a:r>
            <a:r>
              <a:rPr lang="en-US" sz="1200" b="0" dirty="0">
                <a:solidFill>
                  <a:srgbClr val="CCCCCC"/>
                </a:solidFill>
                <a:effectLst/>
                <a:latin typeface="Consolas" panose="020B0609020204030204" pitchFamily="49" charset="0"/>
              </a:rPr>
              <a:t>):</a:t>
            </a:r>
          </a:p>
          <a:p>
            <a:pPr>
              <a:lnSpc>
                <a:spcPts val="1425"/>
              </a:lnSpc>
              <a:buNone/>
            </a:pPr>
            <a:r>
              <a:rPr lang="en-US" sz="1200" b="0" dirty="0">
                <a:solidFill>
                  <a:srgbClr val="CCCCCC"/>
                </a:solidFill>
                <a:effectLst/>
                <a:latin typeface="Consolas" panose="020B0609020204030204" pitchFamily="49" charset="0"/>
              </a:rPr>
              <a:t>        </a:t>
            </a:r>
            <a:r>
              <a:rPr lang="en-US" sz="1200" b="0" dirty="0">
                <a:solidFill>
                  <a:srgbClr val="6A9955"/>
                </a:solidFill>
                <a:effectLst/>
                <a:latin typeface="Consolas" panose="020B0609020204030204" pitchFamily="49" charset="0"/>
              </a:rPr>
              <a:t># process and return item</a:t>
            </a: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item</a:t>
            </a:r>
            <a:endParaRPr lang="en-US" sz="12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670940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989D7B-D9BF-036F-2F61-3C300E1B47BF}"/>
              </a:ext>
            </a:extLst>
          </p:cNvPr>
          <p:cNvSpPr>
            <a:spLocks noGrp="1"/>
          </p:cNvSpPr>
          <p:nvPr>
            <p:ph type="body" idx="1"/>
          </p:nvPr>
        </p:nvSpPr>
        <p:spPr>
          <a:xfrm>
            <a:off x="713250" y="1152475"/>
            <a:ext cx="7717500" cy="451354"/>
          </a:xfrm>
        </p:spPr>
        <p:txBody>
          <a:bodyPr/>
          <a:lstStyle/>
          <a:p>
            <a:pPr marL="152400" indent="0">
              <a:buNone/>
            </a:pPr>
            <a:r>
              <a:rPr lang="en-US" dirty="0"/>
              <a:t>  </a:t>
            </a:r>
            <a:endParaRPr lang="en-IN" dirty="0"/>
          </a:p>
        </p:txBody>
      </p:sp>
      <p:sp>
        <p:nvSpPr>
          <p:cNvPr id="3" name="Title 2">
            <a:extLst>
              <a:ext uri="{FF2B5EF4-FFF2-40B4-BE49-F238E27FC236}">
                <a16:creationId xmlns:a16="http://schemas.microsoft.com/office/drawing/2014/main" id="{41588712-727D-4DA9-AA0F-401CB0717132}"/>
              </a:ext>
            </a:extLst>
          </p:cNvPr>
          <p:cNvSpPr>
            <a:spLocks noGrp="1"/>
          </p:cNvSpPr>
          <p:nvPr>
            <p:ph type="title"/>
          </p:nvPr>
        </p:nvSpPr>
        <p:spPr/>
        <p:txBody>
          <a:bodyPr/>
          <a:lstStyle/>
          <a:p>
            <a:r>
              <a:rPr lang="en-US" dirty="0"/>
              <a:t>Output</a:t>
            </a:r>
            <a:endParaRPr lang="en-IN" dirty="0"/>
          </a:p>
        </p:txBody>
      </p:sp>
      <p:graphicFrame>
        <p:nvGraphicFramePr>
          <p:cNvPr id="12" name="Table 11">
            <a:extLst>
              <a:ext uri="{FF2B5EF4-FFF2-40B4-BE49-F238E27FC236}">
                <a16:creationId xmlns:a16="http://schemas.microsoft.com/office/drawing/2014/main" id="{B51250FF-9631-F8AF-B7AE-70CAA08D43EC}"/>
              </a:ext>
            </a:extLst>
          </p:cNvPr>
          <p:cNvGraphicFramePr>
            <a:graphicFrameLocks noGrp="1"/>
          </p:cNvGraphicFramePr>
          <p:nvPr>
            <p:extLst>
              <p:ext uri="{D42A27DB-BD31-4B8C-83A1-F6EECF244321}">
                <p14:modId xmlns:p14="http://schemas.microsoft.com/office/powerpoint/2010/main" val="4166882577"/>
              </p:ext>
            </p:extLst>
          </p:nvPr>
        </p:nvGraphicFramePr>
        <p:xfrm>
          <a:off x="713250" y="2127049"/>
          <a:ext cx="7717500" cy="1917700"/>
        </p:xfrm>
        <a:graphic>
          <a:graphicData uri="http://schemas.openxmlformats.org/drawingml/2006/table">
            <a:tbl>
              <a:tblPr firstRow="1" bandRow="1">
                <a:tableStyleId>{23D71F08-918A-40D4-84CC-1E49CB3E10C8}</a:tableStyleId>
              </a:tblPr>
              <a:tblGrid>
                <a:gridCol w="1058867">
                  <a:extLst>
                    <a:ext uri="{9D8B030D-6E8A-4147-A177-3AD203B41FA5}">
                      <a16:colId xmlns:a16="http://schemas.microsoft.com/office/drawing/2014/main" val="3678311119"/>
                    </a:ext>
                  </a:extLst>
                </a:gridCol>
                <a:gridCol w="1617136">
                  <a:extLst>
                    <a:ext uri="{9D8B030D-6E8A-4147-A177-3AD203B41FA5}">
                      <a16:colId xmlns:a16="http://schemas.microsoft.com/office/drawing/2014/main" val="44356037"/>
                    </a:ext>
                  </a:extLst>
                </a:gridCol>
                <a:gridCol w="5041497">
                  <a:extLst>
                    <a:ext uri="{9D8B030D-6E8A-4147-A177-3AD203B41FA5}">
                      <a16:colId xmlns:a16="http://schemas.microsoft.com/office/drawing/2014/main" val="2249037160"/>
                    </a:ext>
                  </a:extLst>
                </a:gridCol>
              </a:tblGrid>
              <a:tr h="370840">
                <a:tc>
                  <a:txBody>
                    <a:bodyPr/>
                    <a:lstStyle/>
                    <a:p>
                      <a:pPr algn="ctr" fontAlgn="ctr"/>
                      <a:r>
                        <a:rPr lang="en-IN" sz="1400" b="1" i="0" u="none" strike="noStrike" dirty="0">
                          <a:solidFill>
                            <a:srgbClr val="000000"/>
                          </a:solidFill>
                          <a:effectLst/>
                          <a:latin typeface="Manjari" panose="020B0604020202020204" charset="0"/>
                          <a:cs typeface="Manjari" panose="020B0604020202020204" charset="0"/>
                        </a:rPr>
                        <a:t>Format</a:t>
                      </a:r>
                    </a:p>
                  </a:txBody>
                  <a:tcPr marL="7620" marR="7620" marT="7620" marB="0" anchor="ctr"/>
                </a:tc>
                <a:tc>
                  <a:txBody>
                    <a:bodyPr/>
                    <a:lstStyle/>
                    <a:p>
                      <a:pPr algn="ctr" fontAlgn="ctr"/>
                      <a:r>
                        <a:rPr lang="en-IN" sz="1400" b="1" i="0" u="none" strike="noStrike" dirty="0">
                          <a:solidFill>
                            <a:srgbClr val="000000"/>
                          </a:solidFill>
                          <a:effectLst/>
                          <a:latin typeface="Manjari" panose="020B0604020202020204" charset="0"/>
                          <a:cs typeface="Manjari" panose="020B0604020202020204" charset="0"/>
                        </a:rPr>
                        <a:t>File Extension</a:t>
                      </a:r>
                    </a:p>
                  </a:txBody>
                  <a:tcPr marL="7620" marR="7620" marT="7620" marB="0" anchor="ctr"/>
                </a:tc>
                <a:tc>
                  <a:txBody>
                    <a:bodyPr/>
                    <a:lstStyle/>
                    <a:p>
                      <a:pPr algn="ctr" fontAlgn="ctr"/>
                      <a:r>
                        <a:rPr lang="en-IN" sz="1400" b="1" i="0" u="none" strike="noStrike" dirty="0">
                          <a:solidFill>
                            <a:srgbClr val="000000"/>
                          </a:solidFill>
                          <a:effectLst/>
                          <a:latin typeface="Manjari" panose="020B0604020202020204" charset="0"/>
                          <a:cs typeface="Manjari" panose="020B0604020202020204" charset="0"/>
                        </a:rPr>
                        <a:t>Example Command</a:t>
                      </a:r>
                    </a:p>
                  </a:txBody>
                  <a:tcPr marL="7620" marR="7620" marT="7620" marB="0" anchor="ctr"/>
                </a:tc>
                <a:extLst>
                  <a:ext uri="{0D108BD9-81ED-4DB2-BD59-A6C34878D82A}">
                    <a16:rowId xmlns:a16="http://schemas.microsoft.com/office/drawing/2014/main" val="2064661746"/>
                  </a:ext>
                </a:extLst>
              </a:tr>
              <a:tr h="370840">
                <a:tc>
                  <a:txBody>
                    <a:bodyPr/>
                    <a:lstStyle/>
                    <a:p>
                      <a:pPr algn="ctr" fontAlgn="ctr"/>
                      <a:r>
                        <a:rPr lang="en-IN" sz="1400" b="1" i="0" u="none" strike="noStrike">
                          <a:solidFill>
                            <a:srgbClr val="000000"/>
                          </a:solidFill>
                          <a:effectLst/>
                          <a:latin typeface="Manjari" panose="020B0604020202020204" charset="0"/>
                          <a:cs typeface="Manjari" panose="020B0604020202020204" charset="0"/>
                        </a:rPr>
                        <a:t>JSON</a:t>
                      </a:r>
                    </a:p>
                  </a:txBody>
                  <a:tcPr marL="7620" marR="7620" marT="7620" marB="0" anchor="ctr"/>
                </a:tc>
                <a:tc>
                  <a:txBody>
                    <a:bodyPr/>
                    <a:lstStyle/>
                    <a:p>
                      <a:pPr algn="ctr" fontAlgn="ctr"/>
                      <a:r>
                        <a:rPr lang="en-IN" sz="1400" b="0" i="0" u="none" strike="noStrike" dirty="0">
                          <a:solidFill>
                            <a:srgbClr val="000000"/>
                          </a:solidFill>
                          <a:effectLst/>
                          <a:latin typeface="Manjari" panose="020B0604020202020204" charset="0"/>
                          <a:cs typeface="Manjari" panose="020B0604020202020204" charset="0"/>
                        </a:rPr>
                        <a:t>.</a:t>
                      </a:r>
                      <a:r>
                        <a:rPr lang="en-IN" sz="1400" b="0" i="0" u="none" strike="noStrike" dirty="0" err="1">
                          <a:solidFill>
                            <a:srgbClr val="000000"/>
                          </a:solidFill>
                          <a:effectLst/>
                          <a:latin typeface="Manjari" panose="020B0604020202020204" charset="0"/>
                          <a:cs typeface="Manjari" panose="020B0604020202020204" charset="0"/>
                        </a:rPr>
                        <a:t>json</a:t>
                      </a:r>
                      <a:endParaRPr lang="en-IN" sz="1400" b="0" i="0" u="none" strike="noStrike" dirty="0">
                        <a:solidFill>
                          <a:srgbClr val="000000"/>
                        </a:solidFill>
                        <a:effectLst/>
                        <a:latin typeface="Manjari" panose="020B0604020202020204" charset="0"/>
                        <a:cs typeface="Manjari" panose="020B0604020202020204" charset="0"/>
                      </a:endParaRPr>
                    </a:p>
                  </a:txBody>
                  <a:tcPr marL="7620" marR="7620" marT="7620" marB="0" anchor="ctr"/>
                </a:tc>
                <a:tc>
                  <a:txBody>
                    <a:bodyPr/>
                    <a:lstStyle/>
                    <a:p>
                      <a:pPr algn="l" fontAlgn="ctr"/>
                      <a:r>
                        <a:rPr lang="en-IN" sz="1400" b="0" i="0" u="none" strike="noStrike" dirty="0">
                          <a:solidFill>
                            <a:srgbClr val="000000"/>
                          </a:solidFill>
                          <a:effectLst/>
                          <a:latin typeface="Manjari" panose="020B0604020202020204" charset="0"/>
                          <a:cs typeface="Manjari" panose="020B0604020202020204" charset="0"/>
                        </a:rPr>
                        <a:t>scrapy crawl </a:t>
                      </a:r>
                      <a:r>
                        <a:rPr lang="en-IN" sz="1400" b="0" i="0" u="none" strike="noStrike" dirty="0" err="1">
                          <a:solidFill>
                            <a:srgbClr val="000000"/>
                          </a:solidFill>
                          <a:effectLst/>
                          <a:latin typeface="Manjari" panose="020B0604020202020204" charset="0"/>
                          <a:cs typeface="Manjari" panose="020B0604020202020204" charset="0"/>
                        </a:rPr>
                        <a:t>my_spider</a:t>
                      </a:r>
                      <a:r>
                        <a:rPr lang="en-IN" sz="1400" b="0" i="0" u="none" strike="noStrike" dirty="0">
                          <a:solidFill>
                            <a:srgbClr val="000000"/>
                          </a:solidFill>
                          <a:effectLst/>
                          <a:latin typeface="Manjari" panose="020B0604020202020204" charset="0"/>
                          <a:cs typeface="Manjari" panose="020B0604020202020204" charset="0"/>
                        </a:rPr>
                        <a:t> -o </a:t>
                      </a:r>
                      <a:r>
                        <a:rPr lang="en-IN" sz="1400" b="0" i="0" u="none" strike="noStrike" dirty="0" err="1">
                          <a:solidFill>
                            <a:srgbClr val="000000"/>
                          </a:solidFill>
                          <a:effectLst/>
                          <a:latin typeface="Manjari" panose="020B0604020202020204" charset="0"/>
                          <a:cs typeface="Manjari" panose="020B0604020202020204" charset="0"/>
                        </a:rPr>
                        <a:t>output.json</a:t>
                      </a:r>
                      <a:endParaRPr lang="en-IN" sz="1400" b="0" i="0" u="none" strike="noStrike" dirty="0">
                        <a:solidFill>
                          <a:srgbClr val="000000"/>
                        </a:solidFill>
                        <a:effectLst/>
                        <a:latin typeface="Manjari" panose="020B0604020202020204" charset="0"/>
                        <a:cs typeface="Manjari" panose="020B0604020202020204" charset="0"/>
                      </a:endParaRPr>
                    </a:p>
                  </a:txBody>
                  <a:tcPr marL="7620" marR="7620" marT="7620" marB="0" anchor="ctr"/>
                </a:tc>
                <a:extLst>
                  <a:ext uri="{0D108BD9-81ED-4DB2-BD59-A6C34878D82A}">
                    <a16:rowId xmlns:a16="http://schemas.microsoft.com/office/drawing/2014/main" val="913376297"/>
                  </a:ext>
                </a:extLst>
              </a:tr>
              <a:tr h="370840">
                <a:tc>
                  <a:txBody>
                    <a:bodyPr/>
                    <a:lstStyle/>
                    <a:p>
                      <a:pPr algn="ctr" fontAlgn="ctr"/>
                      <a:r>
                        <a:rPr lang="en-IN" sz="1400" b="1" i="0" u="none" strike="noStrike">
                          <a:solidFill>
                            <a:srgbClr val="000000"/>
                          </a:solidFill>
                          <a:effectLst/>
                          <a:latin typeface="Manjari" panose="020B0604020202020204" charset="0"/>
                          <a:cs typeface="Manjari" panose="020B0604020202020204" charset="0"/>
                        </a:rPr>
                        <a:t>CSV</a:t>
                      </a:r>
                    </a:p>
                  </a:txBody>
                  <a:tcPr marL="7620" marR="7620" marT="7620" marB="0" anchor="ctr"/>
                </a:tc>
                <a:tc>
                  <a:txBody>
                    <a:bodyPr/>
                    <a:lstStyle/>
                    <a:p>
                      <a:pPr algn="ctr" fontAlgn="ctr"/>
                      <a:r>
                        <a:rPr lang="en-IN" sz="1400" b="0" i="0" u="none" strike="noStrike" dirty="0">
                          <a:solidFill>
                            <a:srgbClr val="000000"/>
                          </a:solidFill>
                          <a:effectLst/>
                          <a:latin typeface="Manjari" panose="020B0604020202020204" charset="0"/>
                          <a:cs typeface="Manjari" panose="020B0604020202020204" charset="0"/>
                        </a:rPr>
                        <a:t>.csv</a:t>
                      </a:r>
                    </a:p>
                  </a:txBody>
                  <a:tcPr marL="7620" marR="7620" marT="7620" marB="0" anchor="ctr"/>
                </a:tc>
                <a:tc>
                  <a:txBody>
                    <a:bodyPr/>
                    <a:lstStyle/>
                    <a:p>
                      <a:pPr algn="l" fontAlgn="ctr"/>
                      <a:r>
                        <a:rPr lang="en-US" sz="1400" b="0" i="0" u="none" strike="noStrike">
                          <a:solidFill>
                            <a:srgbClr val="000000"/>
                          </a:solidFill>
                          <a:effectLst/>
                          <a:latin typeface="Manjari" panose="020B0604020202020204" charset="0"/>
                          <a:cs typeface="Manjari" panose="020B0604020202020204" charset="0"/>
                        </a:rPr>
                        <a:t>scrapy crawl my_spider -o output.csv</a:t>
                      </a:r>
                    </a:p>
                  </a:txBody>
                  <a:tcPr marL="7620" marR="7620" marT="7620" marB="0" anchor="ctr"/>
                </a:tc>
                <a:extLst>
                  <a:ext uri="{0D108BD9-81ED-4DB2-BD59-A6C34878D82A}">
                    <a16:rowId xmlns:a16="http://schemas.microsoft.com/office/drawing/2014/main" val="485959064"/>
                  </a:ext>
                </a:extLst>
              </a:tr>
              <a:tr h="370840">
                <a:tc>
                  <a:txBody>
                    <a:bodyPr/>
                    <a:lstStyle/>
                    <a:p>
                      <a:pPr algn="ctr" fontAlgn="ctr"/>
                      <a:r>
                        <a:rPr lang="en-IN" sz="1400" b="1" i="0" u="none" strike="noStrike" dirty="0">
                          <a:solidFill>
                            <a:srgbClr val="000000"/>
                          </a:solidFill>
                          <a:effectLst/>
                          <a:latin typeface="Manjari" panose="020B0604020202020204" charset="0"/>
                          <a:cs typeface="Manjari" panose="020B0604020202020204" charset="0"/>
                        </a:rPr>
                        <a:t>XML</a:t>
                      </a:r>
                    </a:p>
                  </a:txBody>
                  <a:tcPr marL="7620" marR="7620" marT="7620" marB="0" anchor="ctr"/>
                </a:tc>
                <a:tc>
                  <a:txBody>
                    <a:bodyPr/>
                    <a:lstStyle/>
                    <a:p>
                      <a:pPr algn="ctr" fontAlgn="ctr"/>
                      <a:r>
                        <a:rPr lang="en-IN" sz="1400" b="0" i="0" u="none" strike="noStrike" dirty="0">
                          <a:solidFill>
                            <a:srgbClr val="000000"/>
                          </a:solidFill>
                          <a:effectLst/>
                          <a:latin typeface="Manjari" panose="020B0604020202020204" charset="0"/>
                          <a:cs typeface="Manjari" panose="020B0604020202020204" charset="0"/>
                        </a:rPr>
                        <a:t>.xml</a:t>
                      </a:r>
                    </a:p>
                  </a:txBody>
                  <a:tcPr marL="7620" marR="7620" marT="7620" marB="0" anchor="ctr"/>
                </a:tc>
                <a:tc>
                  <a:txBody>
                    <a:bodyPr/>
                    <a:lstStyle/>
                    <a:p>
                      <a:pPr algn="l" fontAlgn="ctr"/>
                      <a:r>
                        <a:rPr lang="en-IN" sz="1400" b="0" i="0" u="none" strike="noStrike" dirty="0">
                          <a:solidFill>
                            <a:srgbClr val="000000"/>
                          </a:solidFill>
                          <a:effectLst/>
                          <a:latin typeface="Manjari" panose="020B0604020202020204" charset="0"/>
                          <a:cs typeface="Manjari" panose="020B0604020202020204" charset="0"/>
                        </a:rPr>
                        <a:t>scrapy crawl </a:t>
                      </a:r>
                      <a:r>
                        <a:rPr lang="en-IN" sz="1400" b="0" i="0" u="none" strike="noStrike" dirty="0" err="1">
                          <a:solidFill>
                            <a:srgbClr val="000000"/>
                          </a:solidFill>
                          <a:effectLst/>
                          <a:latin typeface="Manjari" panose="020B0604020202020204" charset="0"/>
                          <a:cs typeface="Manjari" panose="020B0604020202020204" charset="0"/>
                        </a:rPr>
                        <a:t>my_spider</a:t>
                      </a:r>
                      <a:r>
                        <a:rPr lang="en-IN" sz="1400" b="0" i="0" u="none" strike="noStrike" dirty="0">
                          <a:solidFill>
                            <a:srgbClr val="000000"/>
                          </a:solidFill>
                          <a:effectLst/>
                          <a:latin typeface="Manjari" panose="020B0604020202020204" charset="0"/>
                          <a:cs typeface="Manjari" panose="020B0604020202020204" charset="0"/>
                        </a:rPr>
                        <a:t> -o output.xml</a:t>
                      </a:r>
                    </a:p>
                  </a:txBody>
                  <a:tcPr marL="7620" marR="7620" marT="7620" marB="0" anchor="ctr"/>
                </a:tc>
                <a:extLst>
                  <a:ext uri="{0D108BD9-81ED-4DB2-BD59-A6C34878D82A}">
                    <a16:rowId xmlns:a16="http://schemas.microsoft.com/office/drawing/2014/main" val="534182349"/>
                  </a:ext>
                </a:extLst>
              </a:tr>
              <a:tr h="370840">
                <a:tc>
                  <a:txBody>
                    <a:bodyPr/>
                    <a:lstStyle/>
                    <a:p>
                      <a:pPr algn="ctr" fontAlgn="ctr"/>
                      <a:r>
                        <a:rPr lang="en-US" sz="1400" b="1" i="0" u="none" strike="noStrike" dirty="0">
                          <a:solidFill>
                            <a:srgbClr val="000000"/>
                          </a:solidFill>
                          <a:effectLst/>
                          <a:latin typeface="Manjari" panose="020B0604020202020204" charset="0"/>
                          <a:cs typeface="Manjari" panose="020B0604020202020204" charset="0"/>
                        </a:rPr>
                        <a:t>DB</a:t>
                      </a:r>
                      <a:endParaRPr lang="en-IN" sz="1400" b="1" i="0" u="none" strike="noStrike" dirty="0">
                        <a:solidFill>
                          <a:srgbClr val="000000"/>
                        </a:solidFill>
                        <a:effectLst/>
                        <a:latin typeface="Manjari" panose="020B0604020202020204" charset="0"/>
                        <a:cs typeface="Manjari" panose="020B0604020202020204" charset="0"/>
                      </a:endParaRPr>
                    </a:p>
                  </a:txBody>
                  <a:tcPr marL="7620" marR="7620" marT="7620" marB="0" anchor="ctr"/>
                </a:tc>
                <a:tc>
                  <a:txBody>
                    <a:bodyPr/>
                    <a:lstStyle/>
                    <a:p>
                      <a:pPr algn="ctr" fontAlgn="ctr"/>
                      <a:r>
                        <a:rPr lang="en-US" sz="1400" b="0" i="0" u="none" strike="noStrike" dirty="0">
                          <a:solidFill>
                            <a:srgbClr val="000000"/>
                          </a:solidFill>
                          <a:effectLst/>
                          <a:latin typeface="Manjari" panose="020B0604020202020204" charset="0"/>
                          <a:cs typeface="Manjari" panose="020B0604020202020204" charset="0"/>
                        </a:rPr>
                        <a:t>SQL, MongoDB, etc.</a:t>
                      </a:r>
                      <a:endParaRPr lang="en-IN" sz="1400" b="0" i="0" u="none" strike="noStrike" dirty="0">
                        <a:solidFill>
                          <a:srgbClr val="000000"/>
                        </a:solidFill>
                        <a:effectLst/>
                        <a:latin typeface="Manjari" panose="020B0604020202020204" charset="0"/>
                        <a:cs typeface="Manjari" panose="020B0604020202020204" charset="0"/>
                      </a:endParaRPr>
                    </a:p>
                  </a:txBody>
                  <a:tcPr marL="7620" marR="7620" marT="7620" marB="0" anchor="ctr"/>
                </a:tc>
                <a:tc>
                  <a:txBody>
                    <a:bodyPr/>
                    <a:lstStyle/>
                    <a:p>
                      <a:pPr algn="l" fontAlgn="ctr"/>
                      <a:r>
                        <a:rPr lang="en-US" sz="1400" b="0" i="0" u="none" strike="noStrike" dirty="0">
                          <a:solidFill>
                            <a:srgbClr val="000000"/>
                          </a:solidFill>
                          <a:effectLst/>
                          <a:latin typeface="Manjari" panose="020B0604020202020204" charset="0"/>
                          <a:cs typeface="Manjari" panose="020B0604020202020204" charset="0"/>
                        </a:rPr>
                        <a:t>Using pipeline</a:t>
                      </a:r>
                      <a:endParaRPr lang="en-IN" sz="1400" b="0" i="0" u="none" strike="noStrike" dirty="0">
                        <a:solidFill>
                          <a:srgbClr val="000000"/>
                        </a:solidFill>
                        <a:effectLst/>
                        <a:latin typeface="Manjari" panose="020B0604020202020204" charset="0"/>
                        <a:cs typeface="Manjari" panose="020B0604020202020204" charset="0"/>
                      </a:endParaRPr>
                    </a:p>
                  </a:txBody>
                  <a:tcPr marL="7620" marR="7620" marT="7620" marB="0" anchor="ctr"/>
                </a:tc>
                <a:extLst>
                  <a:ext uri="{0D108BD9-81ED-4DB2-BD59-A6C34878D82A}">
                    <a16:rowId xmlns:a16="http://schemas.microsoft.com/office/drawing/2014/main" val="847696448"/>
                  </a:ext>
                </a:extLst>
              </a:tr>
            </a:tbl>
          </a:graphicData>
        </a:graphic>
      </p:graphicFrame>
      <p:sp>
        <p:nvSpPr>
          <p:cNvPr id="21" name="Rectangle 9">
            <a:extLst>
              <a:ext uri="{FF2B5EF4-FFF2-40B4-BE49-F238E27FC236}">
                <a16:creationId xmlns:a16="http://schemas.microsoft.com/office/drawing/2014/main" id="{F01E278F-B74B-CB0E-D30E-EF42DBA2D84D}"/>
              </a:ext>
            </a:extLst>
          </p:cNvPr>
          <p:cNvSpPr>
            <a:spLocks noChangeArrowheads="1"/>
          </p:cNvSpPr>
          <p:nvPr/>
        </p:nvSpPr>
        <p:spPr bwMode="auto">
          <a:xfrm>
            <a:off x="713250" y="1378152"/>
            <a:ext cx="77175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After scraping, we need to save the extracted data in a structured format for analysis or use in other applications. Scrapy allows exporting in multiple formats using the -o option </a:t>
            </a:r>
          </a:p>
        </p:txBody>
      </p:sp>
    </p:spTree>
    <p:extLst>
      <p:ext uri="{BB962C8B-B14F-4D97-AF65-F5344CB8AC3E}">
        <p14:creationId xmlns:p14="http://schemas.microsoft.com/office/powerpoint/2010/main" val="1970315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C1F1A9-BB5B-25EF-6B9A-41F649D6DA72}"/>
              </a:ext>
            </a:extLst>
          </p:cNvPr>
          <p:cNvSpPr>
            <a:spLocks noGrp="1"/>
          </p:cNvSpPr>
          <p:nvPr>
            <p:ph type="title"/>
          </p:nvPr>
        </p:nvSpPr>
        <p:spPr>
          <a:xfrm>
            <a:off x="713250" y="581082"/>
            <a:ext cx="7717500" cy="541500"/>
          </a:xfrm>
        </p:spPr>
        <p:txBody>
          <a:bodyPr/>
          <a:lstStyle/>
          <a:p>
            <a:r>
              <a:rPr lang="en-US" dirty="0"/>
              <a:t>Pagination</a:t>
            </a:r>
            <a:endParaRPr lang="en-IN" dirty="0"/>
          </a:p>
        </p:txBody>
      </p:sp>
      <p:sp>
        <p:nvSpPr>
          <p:cNvPr id="4" name="Rectangle 1">
            <a:extLst>
              <a:ext uri="{FF2B5EF4-FFF2-40B4-BE49-F238E27FC236}">
                <a16:creationId xmlns:a16="http://schemas.microsoft.com/office/drawing/2014/main" id="{F006FAFA-8DAF-952E-79AF-20302BD3CC00}"/>
              </a:ext>
            </a:extLst>
          </p:cNvPr>
          <p:cNvSpPr>
            <a:spLocks noGrp="1" noChangeArrowheads="1"/>
          </p:cNvSpPr>
          <p:nvPr>
            <p:ph type="body" idx="1"/>
          </p:nvPr>
        </p:nvSpPr>
        <p:spPr bwMode="auto">
          <a:xfrm>
            <a:off x="781168" y="1285303"/>
            <a:ext cx="7581664"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What is Pagination?</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Pagination refers to breaking content into multiple pages (like page 1, 2, 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Why Handle It?</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To scrape </a:t>
            </a:r>
            <a:r>
              <a:rPr kumimoji="0" lang="en-US" altLang="en-US" sz="1400" b="0" i="1" u="none" strike="noStrike" cap="none" normalizeH="0" baseline="0" dirty="0">
                <a:ln>
                  <a:noFill/>
                </a:ln>
                <a:solidFill>
                  <a:schemeClr val="bg1">
                    <a:lumMod val="10000"/>
                  </a:schemeClr>
                </a:solidFill>
                <a:effectLst/>
                <a:latin typeface="Manjari" panose="020B0604020202020204" charset="0"/>
                <a:cs typeface="Manjari" panose="020B0604020202020204" charset="0"/>
              </a:rPr>
              <a:t>all</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data — not just what’s visible on the first page.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Common Methods:</a:t>
            </a:r>
            <a:endPar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URL Manipulation:</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e.g., ?page=1, ?page=2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Next Button Clicks:</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Use </a:t>
            </a:r>
            <a:r>
              <a:rPr kumimoji="0" lang="en-US" altLang="en-US" sz="1400" b="0" i="0" u="none" strike="noStrike" cap="none" normalizeH="0" baseline="0" dirty="0" err="1">
                <a:ln>
                  <a:noFill/>
                </a:ln>
                <a:solidFill>
                  <a:schemeClr val="bg1">
                    <a:lumMod val="10000"/>
                  </a:schemeClr>
                </a:solidFill>
                <a:effectLst/>
                <a:latin typeface="Manjari" panose="020B0604020202020204" charset="0"/>
                <a:cs typeface="Manjari" panose="020B0604020202020204" charset="0"/>
              </a:rPr>
              <a:t>response.follow</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or simulate button 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Infinite Scrolling:</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Requires tools like Selenium for JavaScript loading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Scrapy Tip:</a:t>
            </a:r>
            <a:b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b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Use yield </a:t>
            </a:r>
            <a:r>
              <a:rPr kumimoji="0" lang="en-US" altLang="en-US" sz="1400" b="0" i="0" u="none" strike="noStrike" cap="none" normalizeH="0" baseline="0" dirty="0" err="1">
                <a:ln>
                  <a:noFill/>
                </a:ln>
                <a:solidFill>
                  <a:schemeClr val="bg1">
                    <a:lumMod val="10000"/>
                  </a:schemeClr>
                </a:solidFill>
                <a:effectLst/>
                <a:latin typeface="Manjari" panose="020B0604020202020204" charset="0"/>
                <a:cs typeface="Manjari" panose="020B0604020202020204" charset="0"/>
              </a:rPr>
              <a:t>response.follow</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a:t>
            </a:r>
            <a:r>
              <a:rPr kumimoji="0" lang="en-US" altLang="en-US" sz="1400" b="0" i="0" u="none" strike="noStrike" cap="none" normalizeH="0" baseline="0" dirty="0" err="1">
                <a:ln>
                  <a:noFill/>
                </a:ln>
                <a:solidFill>
                  <a:schemeClr val="bg1">
                    <a:lumMod val="10000"/>
                  </a:schemeClr>
                </a:solidFill>
                <a:effectLst/>
                <a:latin typeface="Manjari" panose="020B0604020202020204" charset="0"/>
                <a:cs typeface="Manjari" panose="020B0604020202020204" charset="0"/>
              </a:rPr>
              <a:t>next_page_url</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callback=</a:t>
            </a:r>
            <a:r>
              <a:rPr kumimoji="0" lang="en-US" altLang="en-US" sz="1400" b="0" i="0" u="none" strike="noStrike" cap="none" normalizeH="0" baseline="0" dirty="0" err="1">
                <a:ln>
                  <a:noFill/>
                </a:ln>
                <a:solidFill>
                  <a:schemeClr val="bg1">
                    <a:lumMod val="10000"/>
                  </a:schemeClr>
                </a:solidFill>
                <a:effectLst/>
                <a:latin typeface="Manjari" panose="020B0604020202020204" charset="0"/>
                <a:cs typeface="Manjari" panose="020B0604020202020204" charset="0"/>
              </a:rPr>
              <a:t>self.parse</a:t>
            </a:r>
            <a:r>
              <a:rPr kumimoji="0" lang="en-US" altLang="en-US" sz="1400" b="0" i="0" u="none" strike="noStrike" cap="none" normalizeH="0" baseline="0" dirty="0">
                <a:ln>
                  <a:noFill/>
                </a:ln>
                <a:solidFill>
                  <a:schemeClr val="bg1">
                    <a:lumMod val="10000"/>
                  </a:schemeClr>
                </a:solidFill>
                <a:effectLst/>
                <a:latin typeface="Manjari" panose="020B0604020202020204" charset="0"/>
                <a:cs typeface="Manjari" panose="020B0604020202020204" charset="0"/>
              </a:rPr>
              <a:t>) to move across pages.</a:t>
            </a:r>
          </a:p>
        </p:txBody>
      </p:sp>
    </p:spTree>
    <p:extLst>
      <p:ext uri="{BB962C8B-B14F-4D97-AF65-F5344CB8AC3E}">
        <p14:creationId xmlns:p14="http://schemas.microsoft.com/office/powerpoint/2010/main" val="3898716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A11FF066-FF42-1492-91ED-4FC1F406D60E}"/>
              </a:ext>
            </a:extLst>
          </p:cNvPr>
          <p:cNvGrpSpPr/>
          <p:nvPr/>
        </p:nvGrpSpPr>
        <p:grpSpPr>
          <a:xfrm>
            <a:off x="5140793" y="1787978"/>
            <a:ext cx="2757715" cy="1567542"/>
            <a:chOff x="4825999" y="1785257"/>
            <a:chExt cx="2757715" cy="1567542"/>
          </a:xfrm>
        </p:grpSpPr>
        <p:sp>
          <p:nvSpPr>
            <p:cNvPr id="23" name="Rectangle: Rounded Corners 22">
              <a:extLst>
                <a:ext uri="{FF2B5EF4-FFF2-40B4-BE49-F238E27FC236}">
                  <a16:creationId xmlns:a16="http://schemas.microsoft.com/office/drawing/2014/main" id="{B178B439-428B-0A3E-EE52-CCE6850FC775}"/>
                </a:ext>
              </a:extLst>
            </p:cNvPr>
            <p:cNvSpPr/>
            <p:nvPr/>
          </p:nvSpPr>
          <p:spPr>
            <a:xfrm>
              <a:off x="4825999" y="1785257"/>
              <a:ext cx="2757715" cy="667656"/>
            </a:xfrm>
            <a:custGeom>
              <a:avLst/>
              <a:gdLst>
                <a:gd name="connsiteX0" fmla="*/ 0 w 2757715"/>
                <a:gd name="connsiteY0" fmla="*/ 333828 h 667656"/>
                <a:gd name="connsiteX1" fmla="*/ 333828 w 2757715"/>
                <a:gd name="connsiteY1" fmla="*/ 0 h 667656"/>
                <a:gd name="connsiteX2" fmla="*/ 856343 w 2757715"/>
                <a:gd name="connsiteY2" fmla="*/ 0 h 667656"/>
                <a:gd name="connsiteX3" fmla="*/ 1378858 w 2757715"/>
                <a:gd name="connsiteY3" fmla="*/ 0 h 667656"/>
                <a:gd name="connsiteX4" fmla="*/ 1880472 w 2757715"/>
                <a:gd name="connsiteY4" fmla="*/ 0 h 667656"/>
                <a:gd name="connsiteX5" fmla="*/ 2423887 w 2757715"/>
                <a:gd name="connsiteY5" fmla="*/ 0 h 667656"/>
                <a:gd name="connsiteX6" fmla="*/ 2757715 w 2757715"/>
                <a:gd name="connsiteY6" fmla="*/ 333828 h 667656"/>
                <a:gd name="connsiteX7" fmla="*/ 2757715 w 2757715"/>
                <a:gd name="connsiteY7" fmla="*/ 333828 h 667656"/>
                <a:gd name="connsiteX8" fmla="*/ 2423887 w 2757715"/>
                <a:gd name="connsiteY8" fmla="*/ 667656 h 667656"/>
                <a:gd name="connsiteX9" fmla="*/ 1943173 w 2757715"/>
                <a:gd name="connsiteY9" fmla="*/ 667656 h 667656"/>
                <a:gd name="connsiteX10" fmla="*/ 1483360 w 2757715"/>
                <a:gd name="connsiteY10" fmla="*/ 667656 h 667656"/>
                <a:gd name="connsiteX11" fmla="*/ 939945 w 2757715"/>
                <a:gd name="connsiteY11" fmla="*/ 667656 h 667656"/>
                <a:gd name="connsiteX12" fmla="*/ 333828 w 2757715"/>
                <a:gd name="connsiteY12" fmla="*/ 667656 h 667656"/>
                <a:gd name="connsiteX13" fmla="*/ 0 w 2757715"/>
                <a:gd name="connsiteY13" fmla="*/ 333828 h 667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7715" h="667656" fill="none" extrusionOk="0">
                  <a:moveTo>
                    <a:pt x="0" y="333828"/>
                  </a:moveTo>
                  <a:cubicBezTo>
                    <a:pt x="-32120" y="147053"/>
                    <a:pt x="173641" y="-1542"/>
                    <a:pt x="333828" y="0"/>
                  </a:cubicBezTo>
                  <a:cubicBezTo>
                    <a:pt x="451296" y="-4983"/>
                    <a:pt x="738154" y="47137"/>
                    <a:pt x="856343" y="0"/>
                  </a:cubicBezTo>
                  <a:cubicBezTo>
                    <a:pt x="974532" y="-47137"/>
                    <a:pt x="1139987" y="1355"/>
                    <a:pt x="1378858" y="0"/>
                  </a:cubicBezTo>
                  <a:cubicBezTo>
                    <a:pt x="1617729" y="-1355"/>
                    <a:pt x="1771464" y="43715"/>
                    <a:pt x="1880472" y="0"/>
                  </a:cubicBezTo>
                  <a:cubicBezTo>
                    <a:pt x="1989480" y="-43715"/>
                    <a:pt x="2255423" y="46656"/>
                    <a:pt x="2423887" y="0"/>
                  </a:cubicBezTo>
                  <a:cubicBezTo>
                    <a:pt x="2570283" y="36718"/>
                    <a:pt x="2764873" y="124047"/>
                    <a:pt x="2757715" y="333828"/>
                  </a:cubicBezTo>
                  <a:lnTo>
                    <a:pt x="2757715" y="333828"/>
                  </a:lnTo>
                  <a:cubicBezTo>
                    <a:pt x="2741733" y="518746"/>
                    <a:pt x="2577733" y="667406"/>
                    <a:pt x="2423887" y="667656"/>
                  </a:cubicBezTo>
                  <a:cubicBezTo>
                    <a:pt x="2303081" y="701605"/>
                    <a:pt x="2079191" y="655410"/>
                    <a:pt x="1943173" y="667656"/>
                  </a:cubicBezTo>
                  <a:cubicBezTo>
                    <a:pt x="1807155" y="679902"/>
                    <a:pt x="1617773" y="650712"/>
                    <a:pt x="1483360" y="667656"/>
                  </a:cubicBezTo>
                  <a:cubicBezTo>
                    <a:pt x="1348947" y="684600"/>
                    <a:pt x="1093159" y="619441"/>
                    <a:pt x="939945" y="667656"/>
                  </a:cubicBezTo>
                  <a:cubicBezTo>
                    <a:pt x="786731" y="715871"/>
                    <a:pt x="586166" y="662992"/>
                    <a:pt x="333828" y="667656"/>
                  </a:cubicBezTo>
                  <a:cubicBezTo>
                    <a:pt x="176615" y="649888"/>
                    <a:pt x="-2113" y="501922"/>
                    <a:pt x="0" y="333828"/>
                  </a:cubicBezTo>
                  <a:close/>
                </a:path>
                <a:path w="2757715" h="667656" stroke="0" extrusionOk="0">
                  <a:moveTo>
                    <a:pt x="0" y="333828"/>
                  </a:moveTo>
                  <a:cubicBezTo>
                    <a:pt x="-40173" y="187051"/>
                    <a:pt x="133530" y="-13030"/>
                    <a:pt x="333828" y="0"/>
                  </a:cubicBezTo>
                  <a:cubicBezTo>
                    <a:pt x="563454" y="-38771"/>
                    <a:pt x="629109" y="27156"/>
                    <a:pt x="793641" y="0"/>
                  </a:cubicBezTo>
                  <a:cubicBezTo>
                    <a:pt x="958173" y="-27156"/>
                    <a:pt x="1164392" y="30408"/>
                    <a:pt x="1295255" y="0"/>
                  </a:cubicBezTo>
                  <a:cubicBezTo>
                    <a:pt x="1426118" y="-30408"/>
                    <a:pt x="1671479" y="8724"/>
                    <a:pt x="1859571" y="0"/>
                  </a:cubicBezTo>
                  <a:cubicBezTo>
                    <a:pt x="2047663" y="-8724"/>
                    <a:pt x="2238369" y="64823"/>
                    <a:pt x="2423887" y="0"/>
                  </a:cubicBezTo>
                  <a:cubicBezTo>
                    <a:pt x="2600300" y="-28844"/>
                    <a:pt x="2756560" y="145635"/>
                    <a:pt x="2757715" y="333828"/>
                  </a:cubicBezTo>
                  <a:lnTo>
                    <a:pt x="2757715" y="333828"/>
                  </a:lnTo>
                  <a:cubicBezTo>
                    <a:pt x="2768760" y="516775"/>
                    <a:pt x="2626215" y="650567"/>
                    <a:pt x="2423887" y="667656"/>
                  </a:cubicBezTo>
                  <a:cubicBezTo>
                    <a:pt x="2236705" y="713033"/>
                    <a:pt x="2144540" y="617302"/>
                    <a:pt x="1901372" y="667656"/>
                  </a:cubicBezTo>
                  <a:cubicBezTo>
                    <a:pt x="1658204" y="718010"/>
                    <a:pt x="1586079" y="647380"/>
                    <a:pt x="1420659" y="667656"/>
                  </a:cubicBezTo>
                  <a:cubicBezTo>
                    <a:pt x="1255239" y="687932"/>
                    <a:pt x="1095867" y="656334"/>
                    <a:pt x="898144" y="667656"/>
                  </a:cubicBezTo>
                  <a:cubicBezTo>
                    <a:pt x="700421" y="678978"/>
                    <a:pt x="499497" y="662255"/>
                    <a:pt x="333828" y="667656"/>
                  </a:cubicBezTo>
                  <a:cubicBezTo>
                    <a:pt x="124163" y="658216"/>
                    <a:pt x="36640" y="522695"/>
                    <a:pt x="0" y="333828"/>
                  </a:cubicBezTo>
                  <a:close/>
                </a:path>
              </a:pathLst>
            </a:custGeom>
            <a:solidFill>
              <a:schemeClr val="tx2"/>
            </a:solidFill>
            <a:ln w="38100">
              <a:solidFill>
                <a:srgbClr val="2A7AB9"/>
              </a:solidFill>
              <a:extLst>
                <a:ext uri="{C807C97D-BFC1-408E-A445-0C87EB9F89A2}">
                  <ask:lineSketchStyleProps xmlns:ask="http://schemas.microsoft.com/office/drawing/2018/sketchyshapes" sd="2123803550">
                    <a:prstGeom prst="roundRect">
                      <a:avLst>
                        <a:gd name="adj" fmla="val 50000"/>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bg1">
                      <a:lumMod val="10000"/>
                    </a:schemeClr>
                  </a:solidFill>
                </a:rPr>
                <a:t>aneem3sh</a:t>
              </a:r>
              <a:endParaRPr lang="en-IN" sz="1800" b="1" dirty="0">
                <a:solidFill>
                  <a:schemeClr val="bg1">
                    <a:lumMod val="10000"/>
                  </a:schemeClr>
                </a:solidFill>
              </a:endParaRPr>
            </a:p>
          </p:txBody>
        </p:sp>
        <p:sp>
          <p:nvSpPr>
            <p:cNvPr id="24" name="Rectangle: Rounded Corners 23">
              <a:extLst>
                <a:ext uri="{FF2B5EF4-FFF2-40B4-BE49-F238E27FC236}">
                  <a16:creationId xmlns:a16="http://schemas.microsoft.com/office/drawing/2014/main" id="{2A823DDE-D8B8-1020-F737-E4CEC6EE2678}"/>
                </a:ext>
              </a:extLst>
            </p:cNvPr>
            <p:cNvSpPr/>
            <p:nvPr/>
          </p:nvSpPr>
          <p:spPr>
            <a:xfrm>
              <a:off x="4825999" y="2685143"/>
              <a:ext cx="2757715" cy="667656"/>
            </a:xfrm>
            <a:custGeom>
              <a:avLst/>
              <a:gdLst>
                <a:gd name="connsiteX0" fmla="*/ 0 w 2757715"/>
                <a:gd name="connsiteY0" fmla="*/ 333828 h 667656"/>
                <a:gd name="connsiteX1" fmla="*/ 333828 w 2757715"/>
                <a:gd name="connsiteY1" fmla="*/ 0 h 667656"/>
                <a:gd name="connsiteX2" fmla="*/ 856343 w 2757715"/>
                <a:gd name="connsiteY2" fmla="*/ 0 h 667656"/>
                <a:gd name="connsiteX3" fmla="*/ 1357957 w 2757715"/>
                <a:gd name="connsiteY3" fmla="*/ 0 h 667656"/>
                <a:gd name="connsiteX4" fmla="*/ 1880472 w 2757715"/>
                <a:gd name="connsiteY4" fmla="*/ 0 h 667656"/>
                <a:gd name="connsiteX5" fmla="*/ 2423887 w 2757715"/>
                <a:gd name="connsiteY5" fmla="*/ 0 h 667656"/>
                <a:gd name="connsiteX6" fmla="*/ 2757715 w 2757715"/>
                <a:gd name="connsiteY6" fmla="*/ 333828 h 667656"/>
                <a:gd name="connsiteX7" fmla="*/ 2757715 w 2757715"/>
                <a:gd name="connsiteY7" fmla="*/ 333828 h 667656"/>
                <a:gd name="connsiteX8" fmla="*/ 2423887 w 2757715"/>
                <a:gd name="connsiteY8" fmla="*/ 667656 h 667656"/>
                <a:gd name="connsiteX9" fmla="*/ 1880472 w 2757715"/>
                <a:gd name="connsiteY9" fmla="*/ 667656 h 667656"/>
                <a:gd name="connsiteX10" fmla="*/ 1337056 w 2757715"/>
                <a:gd name="connsiteY10" fmla="*/ 667656 h 667656"/>
                <a:gd name="connsiteX11" fmla="*/ 856343 w 2757715"/>
                <a:gd name="connsiteY11" fmla="*/ 667656 h 667656"/>
                <a:gd name="connsiteX12" fmla="*/ 333828 w 2757715"/>
                <a:gd name="connsiteY12" fmla="*/ 667656 h 667656"/>
                <a:gd name="connsiteX13" fmla="*/ 0 w 2757715"/>
                <a:gd name="connsiteY13" fmla="*/ 333828 h 667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7715" h="667656" fill="none" extrusionOk="0">
                  <a:moveTo>
                    <a:pt x="0" y="333828"/>
                  </a:moveTo>
                  <a:cubicBezTo>
                    <a:pt x="-1675" y="118108"/>
                    <a:pt x="173313" y="-6212"/>
                    <a:pt x="333828" y="0"/>
                  </a:cubicBezTo>
                  <a:cubicBezTo>
                    <a:pt x="531850" y="-62554"/>
                    <a:pt x="688338" y="54092"/>
                    <a:pt x="856343" y="0"/>
                  </a:cubicBezTo>
                  <a:cubicBezTo>
                    <a:pt x="1024349" y="-54092"/>
                    <a:pt x="1149184" y="53354"/>
                    <a:pt x="1357957" y="0"/>
                  </a:cubicBezTo>
                  <a:cubicBezTo>
                    <a:pt x="1566730" y="-53354"/>
                    <a:pt x="1693913" y="60657"/>
                    <a:pt x="1880472" y="0"/>
                  </a:cubicBezTo>
                  <a:cubicBezTo>
                    <a:pt x="2067032" y="-60657"/>
                    <a:pt x="2157564" y="50471"/>
                    <a:pt x="2423887" y="0"/>
                  </a:cubicBezTo>
                  <a:cubicBezTo>
                    <a:pt x="2618345" y="-37803"/>
                    <a:pt x="2719366" y="161587"/>
                    <a:pt x="2757715" y="333828"/>
                  </a:cubicBezTo>
                  <a:lnTo>
                    <a:pt x="2757715" y="333828"/>
                  </a:lnTo>
                  <a:cubicBezTo>
                    <a:pt x="2754193" y="481715"/>
                    <a:pt x="2566870" y="676971"/>
                    <a:pt x="2423887" y="667656"/>
                  </a:cubicBezTo>
                  <a:cubicBezTo>
                    <a:pt x="2271494" y="694279"/>
                    <a:pt x="2138995" y="631006"/>
                    <a:pt x="1880472" y="667656"/>
                  </a:cubicBezTo>
                  <a:cubicBezTo>
                    <a:pt x="1621950" y="704306"/>
                    <a:pt x="1485939" y="653595"/>
                    <a:pt x="1337056" y="667656"/>
                  </a:cubicBezTo>
                  <a:cubicBezTo>
                    <a:pt x="1188173" y="681717"/>
                    <a:pt x="1005615" y="628280"/>
                    <a:pt x="856343" y="667656"/>
                  </a:cubicBezTo>
                  <a:cubicBezTo>
                    <a:pt x="707071" y="707032"/>
                    <a:pt x="565151" y="613194"/>
                    <a:pt x="333828" y="667656"/>
                  </a:cubicBezTo>
                  <a:cubicBezTo>
                    <a:pt x="128354" y="672924"/>
                    <a:pt x="-3304" y="520462"/>
                    <a:pt x="0" y="333828"/>
                  </a:cubicBezTo>
                  <a:close/>
                </a:path>
                <a:path w="2757715" h="667656" stroke="0" extrusionOk="0">
                  <a:moveTo>
                    <a:pt x="0" y="333828"/>
                  </a:moveTo>
                  <a:cubicBezTo>
                    <a:pt x="-27737" y="193715"/>
                    <a:pt x="120354" y="-24873"/>
                    <a:pt x="333828" y="0"/>
                  </a:cubicBezTo>
                  <a:cubicBezTo>
                    <a:pt x="460845" y="-30595"/>
                    <a:pt x="716352" y="45268"/>
                    <a:pt x="877243" y="0"/>
                  </a:cubicBezTo>
                  <a:cubicBezTo>
                    <a:pt x="1038134" y="-45268"/>
                    <a:pt x="1186136" y="37267"/>
                    <a:pt x="1420659" y="0"/>
                  </a:cubicBezTo>
                  <a:cubicBezTo>
                    <a:pt x="1655182" y="-37267"/>
                    <a:pt x="2207076" y="110793"/>
                    <a:pt x="2423887" y="0"/>
                  </a:cubicBezTo>
                  <a:cubicBezTo>
                    <a:pt x="2613400" y="-4168"/>
                    <a:pt x="2740137" y="159316"/>
                    <a:pt x="2757715" y="333828"/>
                  </a:cubicBezTo>
                  <a:lnTo>
                    <a:pt x="2757715" y="333828"/>
                  </a:lnTo>
                  <a:cubicBezTo>
                    <a:pt x="2710052" y="539603"/>
                    <a:pt x="2635045" y="658424"/>
                    <a:pt x="2423887" y="667656"/>
                  </a:cubicBezTo>
                  <a:cubicBezTo>
                    <a:pt x="2234865" y="698849"/>
                    <a:pt x="2090208" y="639450"/>
                    <a:pt x="1964074" y="667656"/>
                  </a:cubicBezTo>
                  <a:cubicBezTo>
                    <a:pt x="1837940" y="695862"/>
                    <a:pt x="1549910" y="663482"/>
                    <a:pt x="1420659" y="667656"/>
                  </a:cubicBezTo>
                  <a:cubicBezTo>
                    <a:pt x="1291408" y="671830"/>
                    <a:pt x="1150257" y="659408"/>
                    <a:pt x="919045" y="667656"/>
                  </a:cubicBezTo>
                  <a:cubicBezTo>
                    <a:pt x="687833" y="675904"/>
                    <a:pt x="590389" y="625979"/>
                    <a:pt x="333828" y="667656"/>
                  </a:cubicBezTo>
                  <a:cubicBezTo>
                    <a:pt x="192338" y="645515"/>
                    <a:pt x="19544" y="528137"/>
                    <a:pt x="0" y="333828"/>
                  </a:cubicBezTo>
                  <a:close/>
                </a:path>
              </a:pathLst>
            </a:custGeom>
            <a:solidFill>
              <a:schemeClr val="tx2"/>
            </a:solidFill>
            <a:ln w="38100">
              <a:solidFill>
                <a:schemeClr val="bg1">
                  <a:lumMod val="10000"/>
                </a:schemeClr>
              </a:solidFill>
              <a:extLst>
                <a:ext uri="{C807C97D-BFC1-408E-A445-0C87EB9F89A2}">
                  <ask:lineSketchStyleProps xmlns:ask="http://schemas.microsoft.com/office/drawing/2018/sketchyshapes" sd="608994816">
                    <a:prstGeom prst="roundRect">
                      <a:avLst>
                        <a:gd name="adj" fmla="val 50000"/>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bg1">
                      <a:lumMod val="10000"/>
                    </a:schemeClr>
                  </a:solidFill>
                </a:rPr>
                <a:t>m3cj</a:t>
              </a:r>
              <a:endParaRPr lang="en-IN" sz="1800" b="1" dirty="0">
                <a:solidFill>
                  <a:schemeClr val="bg1">
                    <a:lumMod val="10000"/>
                  </a:schemeClr>
                </a:solidFill>
              </a:endParaRPr>
            </a:p>
          </p:txBody>
        </p:sp>
        <p:pic>
          <p:nvPicPr>
            <p:cNvPr id="26" name="Graphic 25">
              <a:extLst>
                <a:ext uri="{FF2B5EF4-FFF2-40B4-BE49-F238E27FC236}">
                  <a16:creationId xmlns:a16="http://schemas.microsoft.com/office/drawing/2014/main" id="{E6F48DD9-9544-17B7-DD3D-27920E2EE3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00839" y="2769733"/>
              <a:ext cx="498475" cy="498475"/>
            </a:xfrm>
            <a:prstGeom prst="rect">
              <a:avLst/>
            </a:prstGeom>
          </p:spPr>
        </p:pic>
        <p:pic>
          <p:nvPicPr>
            <p:cNvPr id="28" name="Graphic 27">
              <a:extLst>
                <a:ext uri="{FF2B5EF4-FFF2-40B4-BE49-F238E27FC236}">
                  <a16:creationId xmlns:a16="http://schemas.microsoft.com/office/drawing/2014/main" id="{F2F791D7-D503-47CC-E09B-0A80EC0D6B1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57761" y="1926770"/>
              <a:ext cx="384629" cy="384629"/>
            </a:xfrm>
            <a:prstGeom prst="rect">
              <a:avLst/>
            </a:prstGeom>
          </p:spPr>
        </p:pic>
      </p:grpSp>
      <p:grpSp>
        <p:nvGrpSpPr>
          <p:cNvPr id="32" name="Group 31">
            <a:extLst>
              <a:ext uri="{FF2B5EF4-FFF2-40B4-BE49-F238E27FC236}">
                <a16:creationId xmlns:a16="http://schemas.microsoft.com/office/drawing/2014/main" id="{E1490F24-B849-81AF-5368-DA8D31CB7FD1}"/>
              </a:ext>
            </a:extLst>
          </p:cNvPr>
          <p:cNvGrpSpPr/>
          <p:nvPr/>
        </p:nvGrpSpPr>
        <p:grpSpPr>
          <a:xfrm>
            <a:off x="718457" y="481693"/>
            <a:ext cx="3853543" cy="4180113"/>
            <a:chOff x="389164" y="318408"/>
            <a:chExt cx="3853543" cy="4180113"/>
          </a:xfrm>
        </p:grpSpPr>
        <p:pic>
          <p:nvPicPr>
            <p:cNvPr id="22" name="Picture 21" descr="A qr code with black squares&#10;&#10;AI-generated content may be incorrect.">
              <a:extLst>
                <a:ext uri="{FF2B5EF4-FFF2-40B4-BE49-F238E27FC236}">
                  <a16:creationId xmlns:a16="http://schemas.microsoft.com/office/drawing/2014/main" id="{47CC90D6-BE53-D14E-BE5A-D949E5EF7A44}"/>
                </a:ext>
              </a:extLst>
            </p:cNvPr>
            <p:cNvPicPr>
              <a:picLocks noChangeAspect="1"/>
            </p:cNvPicPr>
            <p:nvPr/>
          </p:nvPicPr>
          <p:blipFill>
            <a:blip r:embed="rId6"/>
            <a:stretch>
              <a:fillRect/>
            </a:stretch>
          </p:blipFill>
          <p:spPr>
            <a:xfrm>
              <a:off x="389164" y="644978"/>
              <a:ext cx="3853543" cy="3853543"/>
            </a:xfrm>
            <a:prstGeom prst="rect">
              <a:avLst/>
            </a:prstGeom>
          </p:spPr>
        </p:pic>
        <p:sp>
          <p:nvSpPr>
            <p:cNvPr id="30" name="Rectangle: Rounded Corners 29">
              <a:extLst>
                <a:ext uri="{FF2B5EF4-FFF2-40B4-BE49-F238E27FC236}">
                  <a16:creationId xmlns:a16="http://schemas.microsoft.com/office/drawing/2014/main" id="{9B167A57-BE92-374F-4A34-0310F86BA336}"/>
                </a:ext>
              </a:extLst>
            </p:cNvPr>
            <p:cNvSpPr/>
            <p:nvPr/>
          </p:nvSpPr>
          <p:spPr>
            <a:xfrm>
              <a:off x="937077" y="318408"/>
              <a:ext cx="2757715" cy="326570"/>
            </a:xfrm>
            <a:prstGeom prst="roundRect">
              <a:avLst>
                <a:gd name="adj" fmla="val 50000"/>
              </a:avLst>
            </a:prstGeom>
            <a:solidFill>
              <a:schemeClr val="tx2"/>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bg1">
                      <a:lumMod val="10000"/>
                    </a:schemeClr>
                  </a:solidFill>
                </a:rPr>
                <a:t>Drive Link</a:t>
              </a:r>
              <a:endParaRPr lang="en-IN" sz="1800" b="1" dirty="0">
                <a:solidFill>
                  <a:schemeClr val="bg1">
                    <a:lumMod val="10000"/>
                  </a:schemeClr>
                </a:solidFill>
              </a:endParaRPr>
            </a:p>
          </p:txBody>
        </p:sp>
      </p:grpSp>
    </p:spTree>
    <p:extLst>
      <p:ext uri="{BB962C8B-B14F-4D97-AF65-F5344CB8AC3E}">
        <p14:creationId xmlns:p14="http://schemas.microsoft.com/office/powerpoint/2010/main" val="1697513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C5D2B-EFC6-E0DF-C026-1BB9A96179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50F034-BF38-3764-1267-7663D313E5FF}"/>
              </a:ext>
            </a:extLst>
          </p:cNvPr>
          <p:cNvSpPr txBox="1"/>
          <p:nvPr/>
        </p:nvSpPr>
        <p:spPr>
          <a:xfrm>
            <a:off x="956169" y="2156251"/>
            <a:ext cx="7231661" cy="830997"/>
          </a:xfrm>
          <a:prstGeom prst="rect">
            <a:avLst/>
          </a:prstGeom>
          <a:noFill/>
        </p:spPr>
        <p:txBody>
          <a:bodyPr wrap="square">
            <a:spAutoFit/>
          </a:bodyPr>
          <a:lstStyle/>
          <a:p>
            <a:r>
              <a:rPr lang="en-US" sz="1600" i="1" dirty="0"/>
              <a:t>"Though a dwarf upon the summit of a mount he be, yet a dwarf </a:t>
            </a:r>
            <a:r>
              <a:rPr lang="en-US" sz="1600" i="1" dirty="0" err="1"/>
              <a:t>remaineth</a:t>
            </a:r>
            <a:r>
              <a:rPr lang="en-US" sz="1600" i="1" dirty="0"/>
              <a:t> he;</a:t>
            </a:r>
          </a:p>
          <a:p>
            <a:br>
              <a:rPr lang="en-US" sz="1600" i="1" dirty="0"/>
            </a:br>
            <a:r>
              <a:rPr lang="en-US" sz="1600" i="1" dirty="0"/>
              <a:t>And though a god in the deep dark well dost dwell, still divine is he."</a:t>
            </a:r>
            <a:endParaRPr lang="en-IN" sz="1600" i="1" dirty="0"/>
          </a:p>
        </p:txBody>
      </p:sp>
      <p:sp>
        <p:nvSpPr>
          <p:cNvPr id="4" name="TextBox 3">
            <a:extLst>
              <a:ext uri="{FF2B5EF4-FFF2-40B4-BE49-F238E27FC236}">
                <a16:creationId xmlns:a16="http://schemas.microsoft.com/office/drawing/2014/main" id="{F8C23A5D-D5A8-7907-B7AF-715DED218260}"/>
              </a:ext>
            </a:extLst>
          </p:cNvPr>
          <p:cNvSpPr txBox="1"/>
          <p:nvPr/>
        </p:nvSpPr>
        <p:spPr>
          <a:xfrm>
            <a:off x="6598085" y="3487605"/>
            <a:ext cx="1589745" cy="338554"/>
          </a:xfrm>
          <a:prstGeom prst="rect">
            <a:avLst/>
          </a:prstGeom>
          <a:noFill/>
        </p:spPr>
        <p:txBody>
          <a:bodyPr wrap="square">
            <a:spAutoFit/>
          </a:bodyPr>
          <a:lstStyle/>
          <a:p>
            <a:r>
              <a:rPr lang="en-US" sz="1600" i="1" dirty="0"/>
              <a:t>~ William Sher</a:t>
            </a:r>
            <a:endParaRPr lang="en-IN" sz="1600" i="1" dirty="0"/>
          </a:p>
        </p:txBody>
      </p:sp>
    </p:spTree>
    <p:extLst>
      <p:ext uri="{BB962C8B-B14F-4D97-AF65-F5344CB8AC3E}">
        <p14:creationId xmlns:p14="http://schemas.microsoft.com/office/powerpoint/2010/main" val="4092488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DC13C-5FE7-3BCF-86BD-54661D3A403A}"/>
              </a:ext>
            </a:extLst>
          </p:cNvPr>
          <p:cNvSpPr>
            <a:spLocks noGrp="1"/>
          </p:cNvSpPr>
          <p:nvPr>
            <p:ph type="title"/>
          </p:nvPr>
        </p:nvSpPr>
        <p:spPr/>
        <p:txBody>
          <a:bodyPr/>
          <a:lstStyle/>
          <a:p>
            <a:r>
              <a:rPr lang="en-US" dirty="0"/>
              <a:t>The End</a:t>
            </a:r>
            <a:endParaRPr lang="en-IN" dirty="0"/>
          </a:p>
        </p:txBody>
      </p:sp>
    </p:spTree>
    <p:extLst>
      <p:ext uri="{BB962C8B-B14F-4D97-AF65-F5344CB8AC3E}">
        <p14:creationId xmlns:p14="http://schemas.microsoft.com/office/powerpoint/2010/main" val="389624162"/>
      </p:ext>
    </p:extLst>
  </p:cSld>
  <p:clrMapOvr>
    <a:masterClrMapping/>
  </p:clrMapOvr>
</p:sld>
</file>

<file path=ppt/theme/theme1.xml><?xml version="1.0" encoding="utf-8"?>
<a:theme xmlns:a="http://schemas.openxmlformats.org/drawingml/2006/main" name="Elegant Education Pack for Students XL by Slidesgo">
  <a:themeElements>
    <a:clrScheme name="Simple Light">
      <a:dk1>
        <a:srgbClr val="FFFFFF"/>
      </a:dk1>
      <a:lt1>
        <a:srgbClr val="EDECDF"/>
      </a:lt1>
      <a:dk2>
        <a:srgbClr val="C8A591"/>
      </a:dk2>
      <a:lt2>
        <a:srgbClr val="FFFFFF"/>
      </a:lt2>
      <a:accent1>
        <a:srgbClr val="A0A299"/>
      </a:accent1>
      <a:accent2>
        <a:srgbClr val="40474B"/>
      </a:accent2>
      <a:accent3>
        <a:srgbClr val="C8A591"/>
      </a:accent3>
      <a:accent4>
        <a:srgbClr val="EDECDF"/>
      </a:accent4>
      <a:accent5>
        <a:srgbClr val="A0A299"/>
      </a:accent5>
      <a:accent6>
        <a:srgbClr val="FFFFFF"/>
      </a:accent6>
      <a:hlink>
        <a:srgbClr val="4047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5051</TotalTime>
  <Words>1665</Words>
  <Application>Microsoft Office PowerPoint</Application>
  <PresentationFormat>On-screen Show (16:9)</PresentationFormat>
  <Paragraphs>202</Paragraphs>
  <Slides>26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Hammersmith One</vt:lpstr>
      <vt:lpstr>Manjari</vt:lpstr>
      <vt:lpstr>Roboto Condensed Light</vt:lpstr>
      <vt:lpstr>Consolas</vt:lpstr>
      <vt:lpstr>Elegant Education Pack for Students XL by Slidesgo</vt:lpstr>
      <vt:lpstr>Scrapy : Web Crawler</vt:lpstr>
      <vt:lpstr>Have you ever wondered how ChatGPT searches for data on other sites?</vt:lpstr>
      <vt:lpstr>Web Scraping</vt:lpstr>
      <vt:lpstr>What is Web Scraping?</vt:lpstr>
      <vt:lpstr>Why Web Scraping</vt:lpstr>
      <vt:lpstr>Applications of Web Scraping</vt:lpstr>
      <vt:lpstr>Choose Your Scraping Style</vt:lpstr>
      <vt:lpstr>Scrapy</vt:lpstr>
      <vt:lpstr>Scrapy</vt:lpstr>
      <vt:lpstr>Creating Virtual Enviroment</vt:lpstr>
      <vt:lpstr>Installing Scrapy</vt:lpstr>
      <vt:lpstr>Starting Scrapy Project</vt:lpstr>
      <vt:lpstr>Folder Structure</vt:lpstr>
      <vt:lpstr>Scrapy Workflow</vt:lpstr>
      <vt:lpstr>Spiders</vt:lpstr>
      <vt:lpstr>Creating our First Spider (Web Crawler)</vt:lpstr>
      <vt:lpstr>Selectors</vt:lpstr>
      <vt:lpstr>Example</vt:lpstr>
      <vt:lpstr>Item &amp; Pipeline</vt:lpstr>
      <vt:lpstr>Item Container</vt:lpstr>
      <vt:lpstr>Pipeline</vt:lpstr>
      <vt:lpstr>Output</vt:lpstr>
      <vt:lpstr>Pagination</vt:lpstr>
      <vt:lpstr>PowerPoint Presentation</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Animesh .</dc:creator>
  <cp:lastModifiedBy>ActSoftware</cp:lastModifiedBy>
  <cp:revision>5</cp:revision>
  <dcterms:modified xsi:type="dcterms:W3CDTF">2025-04-11T23:16:32Z</dcterms:modified>
</cp:coreProperties>
</file>